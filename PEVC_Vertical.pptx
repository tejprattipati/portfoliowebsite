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14"/>
  </p:notesMasterIdLst>
  <p:sldIdLst>
    <p:sldId id="256" r:id="rId5"/>
    <p:sldId id="260" r:id="rId6"/>
    <p:sldId id="258" r:id="rId7"/>
    <p:sldId id="259" r:id="rId8"/>
    <p:sldId id="301" r:id="rId9"/>
    <p:sldId id="270" r:id="rId10"/>
    <p:sldId id="273" r:id="rId11"/>
    <p:sldId id="283" r:id="rId12"/>
    <p:sldId id="262" r:id="rId13"/>
  </p:sldIdLst>
  <p:sldSz cx="9144000" cy="6858000" type="screen4x3"/>
  <p:notesSz cx="6858000" cy="9144000"/>
  <p:embeddedFontLst>
    <p:embeddedFont>
      <p:font typeface="Cambria" panose="02040503050406030204" pitchFamily="18" charset="0"/>
      <p:regular r:id="rId15"/>
      <p:bold r:id="rId16"/>
      <p:italic r:id="rId17"/>
      <p:boldItalic r:id="rId18"/>
    </p:embeddedFont>
    <p:embeddedFont>
      <p:font typeface="Garamond" panose="02020404030301010803" pitchFamily="18"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56">
          <p15:clr>
            <a:srgbClr val="A4A3A4"/>
          </p15:clr>
        </p15:guide>
        <p15:guide id="2" pos="2880">
          <p15:clr>
            <a:srgbClr val="A4A3A4"/>
          </p15:clr>
        </p15:guide>
        <p15:guide id="3" pos="5472">
          <p15:clr>
            <a:srgbClr val="A4A3A4"/>
          </p15:clr>
        </p15:guide>
        <p15:guide id="4" pos="288">
          <p15:clr>
            <a:srgbClr val="A4A3A4"/>
          </p15:clr>
        </p15:guide>
        <p15:guide id="5" orient="horz" pos="3936">
          <p15:clr>
            <a:srgbClr val="A4A3A4"/>
          </p15:clr>
        </p15:guide>
        <p15:guide id="6" orient="horz" pos="2496">
          <p15:clr>
            <a:srgbClr val="A4A3A4"/>
          </p15:clr>
        </p15:guide>
      </p15:sldGuideLst>
    </p:ext>
    <p:ext uri="GoogleSlidesCustomDataVersion2">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63" roundtripDataSignature="AMtx7mja01fTITrX858dHniTGHq+unWQ8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8ADCF"/>
    <a:srgbClr val="4074A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402532-02C2-BB69-4E8F-58A32E007656}" v="36" dt="2026-04-08T05:05:07.549"/>
  </p1510:revLst>
</p1510:revInfo>
</file>

<file path=ppt/tableStyles.xml><?xml version="1.0" encoding="utf-8"?>
<a:tblStyleLst xmlns:a="http://schemas.openxmlformats.org/drawingml/2006/main" def="{66590A3B-09E2-4B25-B285-4A5D68A00227}">
  <a:tblStyle styleId="{66590A3B-09E2-4B25-B285-4A5D68A00227}"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BF5"/>
          </a:solidFill>
        </a:fill>
      </a:tcStyle>
    </a:wholeTbl>
    <a:band1H>
      <a:tcTxStyle b="off" i="off"/>
      <a:tcStyle>
        <a:tcBdr/>
        <a:fill>
          <a:solidFill>
            <a:srgbClr val="CAD4EA"/>
          </a:solidFill>
        </a:fill>
      </a:tcStyle>
    </a:band1H>
    <a:band2H>
      <a:tcTxStyle b="off" i="off"/>
      <a:tcStyle>
        <a:tcBdr/>
      </a:tcStyle>
    </a:band2H>
    <a:band1V>
      <a:tcTxStyle b="off" i="off"/>
      <a:tcStyle>
        <a:tcBdr/>
        <a:fill>
          <a:solidFill>
            <a:srgbClr val="CAD4EA"/>
          </a:solidFill>
        </a:fill>
      </a:tcStyle>
    </a:band1V>
    <a:band2V>
      <a:tcTxStyle b="off" i="off"/>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056"/>
        <p:guide pos="2880"/>
        <p:guide pos="5472"/>
        <p:guide pos="288"/>
        <p:guide orient="horz" pos="3936"/>
        <p:guide orient="horz" pos="2496"/>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4.fntdata"/><Relationship Id="rId3" Type="http://schemas.openxmlformats.org/officeDocument/2006/relationships/customXml" Target="../customXml/item3.xml"/><Relationship Id="rId21" Type="http://schemas.openxmlformats.org/officeDocument/2006/relationships/font" Target="fonts/font7.fntdata"/><Relationship Id="rId63" Type="http://customschemas.google.com/relationships/presentationmetadata" Target="metadata"/><Relationship Id="rId68"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3.fntdata"/><Relationship Id="rId6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66"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font" Target="fonts/font1.fntdata"/><Relationship Id="rId10" Type="http://schemas.openxmlformats.org/officeDocument/2006/relationships/slide" Target="slides/slide6.xml"/><Relationship Id="rId19" Type="http://schemas.openxmlformats.org/officeDocument/2006/relationships/font" Target="fonts/font5.fntdata"/><Relationship Id="rId65"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 Id="rId22" Type="http://schemas.openxmlformats.org/officeDocument/2006/relationships/font" Target="fonts/font8.fntdata"/><Relationship Id="rId64"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Garamond" panose="02020404030301010803" pitchFamily="18" charset="0"/>
                <a:ea typeface="+mn-ea"/>
                <a:cs typeface="+mn-cs"/>
              </a:defRPr>
            </a:pPr>
            <a:r>
              <a:rPr lang="en-US">
                <a:solidFill>
                  <a:schemeClr val="bg2"/>
                </a:solidFill>
              </a:rPr>
              <a:t>Eli Lilly Gene Therapy Acquisition Volume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Garamond" panose="02020404030301010803" pitchFamily="18" charset="0"/>
              <a:ea typeface="+mn-ea"/>
              <a:cs typeface="+mn-cs"/>
            </a:defRPr>
          </a:pPr>
          <a:endParaRPr lang="en-US"/>
        </a:p>
      </c:txPr>
    </c:title>
    <c:autoTitleDeleted val="0"/>
    <c:plotArea>
      <c:layout/>
      <c:barChart>
        <c:barDir val="col"/>
        <c:grouping val="clustered"/>
        <c:varyColors val="0"/>
        <c:ser>
          <c:idx val="0"/>
          <c:order val="0"/>
          <c:spPr>
            <a:solidFill>
              <a:schemeClr val="accent1"/>
            </a:solidFill>
            <a:ln>
              <a:noFill/>
            </a:ln>
            <a:effectLst/>
          </c:spPr>
          <c:invertIfNegative val="0"/>
          <c:cat>
            <c:numRef>
              <c:f>Sheet1!$D$1:$D$5</c:f>
              <c:numCache>
                <c:formatCode>General</c:formatCode>
                <c:ptCount val="5"/>
                <c:pt idx="0">
                  <c:v>2022</c:v>
                </c:pt>
                <c:pt idx="1">
                  <c:v>2023</c:v>
                </c:pt>
                <c:pt idx="2">
                  <c:v>2024</c:v>
                </c:pt>
                <c:pt idx="3">
                  <c:v>2025</c:v>
                </c:pt>
                <c:pt idx="4">
                  <c:v>2026</c:v>
                </c:pt>
              </c:numCache>
            </c:numRef>
          </c:cat>
          <c:val>
            <c:numRef>
              <c:f>Sheet1!$E$1:$E$5</c:f>
              <c:numCache>
                <c:formatCode>General</c:formatCode>
                <c:ptCount val="5"/>
                <c:pt idx="0">
                  <c:v>1</c:v>
                </c:pt>
                <c:pt idx="1">
                  <c:v>0.7</c:v>
                </c:pt>
                <c:pt idx="2">
                  <c:v>0.3</c:v>
                </c:pt>
                <c:pt idx="3">
                  <c:v>1</c:v>
                </c:pt>
                <c:pt idx="4">
                  <c:v>2.4</c:v>
                </c:pt>
              </c:numCache>
            </c:numRef>
          </c:val>
          <c:extLst>
            <c:ext xmlns:c16="http://schemas.microsoft.com/office/drawing/2014/chart" uri="{C3380CC4-5D6E-409C-BE32-E72D297353CC}">
              <c16:uniqueId val="{00000000-03D4-441A-9A28-DE674970BA2B}"/>
            </c:ext>
          </c:extLst>
        </c:ser>
        <c:dLbls>
          <c:showLegendKey val="0"/>
          <c:showVal val="0"/>
          <c:showCatName val="0"/>
          <c:showSerName val="0"/>
          <c:showPercent val="0"/>
          <c:showBubbleSize val="0"/>
        </c:dLbls>
        <c:gapWidth val="219"/>
        <c:overlap val="-27"/>
        <c:axId val="1588098208"/>
        <c:axId val="1588099168"/>
      </c:barChart>
      <c:catAx>
        <c:axId val="15880982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2"/>
                </a:solidFill>
                <a:latin typeface="Garamond" panose="02020404030301010803" pitchFamily="18" charset="0"/>
                <a:ea typeface="+mn-ea"/>
                <a:cs typeface="+mn-cs"/>
              </a:defRPr>
            </a:pPr>
            <a:endParaRPr lang="en-US"/>
          </a:p>
        </c:txPr>
        <c:crossAx val="1588099168"/>
        <c:crosses val="autoZero"/>
        <c:auto val="1"/>
        <c:lblAlgn val="ctr"/>
        <c:lblOffset val="100"/>
        <c:noMultiLvlLbl val="0"/>
      </c:catAx>
      <c:valAx>
        <c:axId val="1588099168"/>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bg2"/>
                    </a:solidFill>
                    <a:latin typeface="Garamond" panose="02020404030301010803" pitchFamily="18" charset="0"/>
                    <a:ea typeface="+mn-ea"/>
                    <a:cs typeface="+mn-cs"/>
                  </a:defRPr>
                </a:pPr>
                <a:r>
                  <a:rPr lang="en-US">
                    <a:solidFill>
                      <a:schemeClr val="bg2"/>
                    </a:solidFill>
                  </a:rPr>
                  <a:t>Investment in Billions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bg2"/>
                  </a:solidFill>
                  <a:latin typeface="Garamond" panose="02020404030301010803" pitchFamily="18" charset="0"/>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2"/>
                </a:solidFill>
                <a:latin typeface="Garamond" panose="02020404030301010803" pitchFamily="18" charset="0"/>
                <a:ea typeface="+mn-ea"/>
                <a:cs typeface="+mn-cs"/>
              </a:defRPr>
            </a:pPr>
            <a:endParaRPr lang="en-US"/>
          </a:p>
        </c:txPr>
        <c:crossAx val="1588098208"/>
        <c:crosses val="autoZero"/>
        <c:crossBetween val="between"/>
      </c:valAx>
      <c:spPr>
        <a:noFill/>
        <a:ln>
          <a:noFill/>
        </a:ln>
        <a:effectLst/>
      </c:spPr>
    </c:plotArea>
    <c:plotVisOnly val="1"/>
    <c:dispBlanksAs val="gap"/>
    <c:showDLblsOverMax val="0"/>
  </c:chart>
  <c:spPr>
    <a:noFill/>
    <a:ln>
      <a:noFill/>
    </a:ln>
    <a:effectLst/>
  </c:spPr>
  <c:txPr>
    <a:bodyPr/>
    <a:lstStyle/>
    <a:p>
      <a:pPr>
        <a:defRPr>
          <a:latin typeface="Garamond" panose="02020404030301010803" pitchFamily="18"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 name="Google Shape;39;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5" name="Google Shape;115;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 name="Google Shape;69;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 name="Google Shape;85;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a:extLst>
            <a:ext uri="{FF2B5EF4-FFF2-40B4-BE49-F238E27FC236}">
              <a16:creationId xmlns:a16="http://schemas.microsoft.com/office/drawing/2014/main" id="{2C80BE2B-0936-B88F-8B28-348D38D9BA81}"/>
            </a:ext>
          </a:extLst>
        </p:cNvPr>
        <p:cNvGrpSpPr/>
        <p:nvPr/>
      </p:nvGrpSpPr>
      <p:grpSpPr>
        <a:xfrm>
          <a:off x="0" y="0"/>
          <a:ext cx="0" cy="0"/>
          <a:chOff x="0" y="0"/>
          <a:chExt cx="0" cy="0"/>
        </a:xfrm>
      </p:grpSpPr>
      <p:sp>
        <p:nvSpPr>
          <p:cNvPr id="324" name="Google Shape;324;p34:notes">
            <a:extLst>
              <a:ext uri="{FF2B5EF4-FFF2-40B4-BE49-F238E27FC236}">
                <a16:creationId xmlns:a16="http://schemas.microsoft.com/office/drawing/2014/main" id="{F0C63430-5920-D1D1-DA55-C21256AF69D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5" name="Google Shape;325;p34:notes">
            <a:extLst>
              <a:ext uri="{FF2B5EF4-FFF2-40B4-BE49-F238E27FC236}">
                <a16:creationId xmlns:a16="http://schemas.microsoft.com/office/drawing/2014/main" id="{2CD6F66D-B3F0-482D-430A-5A272559065D}"/>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978641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2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8" name="Google Shape;248;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3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1" name="Google Shape;291;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p4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0" name="Google Shape;460;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4" name="Google Shape;144;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bg>
      <p:bgPr>
        <a:solidFill>
          <a:srgbClr val="3C3C3E"/>
        </a:solidFill>
        <a:effectLst/>
      </p:bgPr>
    </p:bg>
    <p:spTree>
      <p:nvGrpSpPr>
        <p:cNvPr id="1" name="Shape 15"/>
        <p:cNvGrpSpPr/>
        <p:nvPr/>
      </p:nvGrpSpPr>
      <p:grpSpPr>
        <a:xfrm>
          <a:off x="0" y="0"/>
          <a:ext cx="0" cy="0"/>
          <a:chOff x="0" y="0"/>
          <a:chExt cx="0" cy="0"/>
        </a:xfrm>
      </p:grpSpPr>
      <p:pic>
        <p:nvPicPr>
          <p:cNvPr id="16" name="Google Shape;16;p19" descr="Page 4 | Navy Building Images - Free Download on Freepik"/>
          <p:cNvPicPr preferRelativeResize="0"/>
          <p:nvPr/>
        </p:nvPicPr>
        <p:blipFill rotWithShape="1">
          <a:blip r:embed="rId2">
            <a:alphaModFix amt="50000"/>
          </a:blip>
          <a:srcRect t="16976" b="23005"/>
          <a:stretch/>
        </p:blipFill>
        <p:spPr>
          <a:xfrm>
            <a:off x="0" y="0"/>
            <a:ext cx="9144000" cy="6858000"/>
          </a:xfrm>
          <a:prstGeom prst="rect">
            <a:avLst/>
          </a:prstGeom>
          <a:noFill/>
          <a:ln>
            <a:noFill/>
          </a:ln>
        </p:spPr>
      </p:pic>
      <p:sp>
        <p:nvSpPr>
          <p:cNvPr id="17" name="Google Shape;17;p19"/>
          <p:cNvSpPr/>
          <p:nvPr/>
        </p:nvSpPr>
        <p:spPr>
          <a:xfrm>
            <a:off x="0" y="0"/>
            <a:ext cx="9144000" cy="6858000"/>
          </a:xfrm>
          <a:prstGeom prst="rect">
            <a:avLst/>
          </a:prstGeom>
          <a:solidFill>
            <a:srgbClr val="0C154C">
              <a:alpha val="4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1">
  <p:cSld name="Blank w/ Takeaway">
    <p:spTree>
      <p:nvGrpSpPr>
        <p:cNvPr id="1" name="Shape 22"/>
        <p:cNvGrpSpPr/>
        <p:nvPr/>
      </p:nvGrpSpPr>
      <p:grpSpPr>
        <a:xfrm>
          <a:off x="0" y="0"/>
          <a:ext cx="0" cy="0"/>
          <a:chOff x="0" y="0"/>
          <a:chExt cx="0" cy="0"/>
        </a:xfrm>
      </p:grpSpPr>
      <p:sp>
        <p:nvSpPr>
          <p:cNvPr id="23" name="Google Shape;23;g2fc9e35c8b8_2_513"/>
          <p:cNvSpPr txBox="1"/>
          <p:nvPr/>
        </p:nvSpPr>
        <p:spPr>
          <a:xfrm>
            <a:off x="421151" y="737304"/>
            <a:ext cx="8224800" cy="409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dk1"/>
              </a:buClr>
              <a:buSzPts val="4400"/>
              <a:buFont typeface="Calibri"/>
              <a:buNone/>
            </a:pPr>
            <a:endParaRPr sz="1600" b="1" i="0" u="none" strike="noStrike" cap="none">
              <a:solidFill>
                <a:schemeClr val="dk1"/>
              </a:solidFill>
              <a:latin typeface="Cambria"/>
              <a:ea typeface="Cambria"/>
              <a:cs typeface="Cambria"/>
              <a:sym typeface="Cambria"/>
            </a:endParaRPr>
          </a:p>
        </p:txBody>
      </p:sp>
      <p:pic>
        <p:nvPicPr>
          <p:cNvPr id="24" name="Google Shape;24;g2fc9e35c8b8_2_513" descr="Michigan PEVC"/>
          <p:cNvPicPr preferRelativeResize="0"/>
          <p:nvPr/>
        </p:nvPicPr>
        <p:blipFill rotWithShape="1">
          <a:blip r:embed="rId2">
            <a:alphaModFix/>
          </a:blip>
          <a:srcRect t="33791" b="40052"/>
          <a:stretch/>
        </p:blipFill>
        <p:spPr>
          <a:xfrm>
            <a:off x="7752521" y="209983"/>
            <a:ext cx="1215760" cy="318001"/>
          </a:xfrm>
          <a:prstGeom prst="rect">
            <a:avLst/>
          </a:prstGeom>
          <a:noFill/>
          <a:ln>
            <a:noFill/>
          </a:ln>
        </p:spPr>
      </p:pic>
      <p:cxnSp>
        <p:nvCxnSpPr>
          <p:cNvPr id="25" name="Google Shape;25;g2fc9e35c8b8_2_513"/>
          <p:cNvCxnSpPr/>
          <p:nvPr/>
        </p:nvCxnSpPr>
        <p:spPr>
          <a:xfrm>
            <a:off x="0" y="1090355"/>
            <a:ext cx="9144000" cy="0"/>
          </a:xfrm>
          <a:prstGeom prst="straightConnector1">
            <a:avLst/>
          </a:prstGeom>
          <a:noFill/>
          <a:ln w="9525" cap="flat" cmpd="sng">
            <a:solidFill>
              <a:srgbClr val="151515"/>
            </a:solidFill>
            <a:prstDash val="solid"/>
            <a:round/>
            <a:headEnd type="none" w="sm" len="sm"/>
            <a:tailEnd type="none" w="sm" len="sm"/>
          </a:ln>
        </p:spPr>
      </p:cxnSp>
      <p:cxnSp>
        <p:nvCxnSpPr>
          <p:cNvPr id="26" name="Google Shape;26;g2fc9e35c8b8_2_513"/>
          <p:cNvCxnSpPr/>
          <p:nvPr/>
        </p:nvCxnSpPr>
        <p:spPr>
          <a:xfrm>
            <a:off x="452668" y="6436078"/>
            <a:ext cx="8238663" cy="0"/>
          </a:xfrm>
          <a:prstGeom prst="straightConnector1">
            <a:avLst/>
          </a:prstGeom>
          <a:noFill/>
          <a:ln w="9525" cap="flat" cmpd="sng">
            <a:solidFill>
              <a:srgbClr val="151515"/>
            </a:solidFill>
            <a:prstDash val="solid"/>
            <a:round/>
            <a:headEnd type="none" w="sm" len="sm"/>
            <a:tailEnd type="none" w="sm" len="sm"/>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p:cSld name="Section Slide">
    <p:spTree>
      <p:nvGrpSpPr>
        <p:cNvPr id="1" name="Shape 27"/>
        <p:cNvGrpSpPr/>
        <p:nvPr/>
      </p:nvGrpSpPr>
      <p:grpSpPr>
        <a:xfrm>
          <a:off x="0" y="0"/>
          <a:ext cx="0" cy="0"/>
          <a:chOff x="0" y="0"/>
          <a:chExt cx="0" cy="0"/>
        </a:xfrm>
      </p:grpSpPr>
      <p:sp>
        <p:nvSpPr>
          <p:cNvPr id="28" name="Google Shape;28;p60"/>
          <p:cNvSpPr/>
          <p:nvPr/>
        </p:nvSpPr>
        <p:spPr>
          <a:xfrm>
            <a:off x="0" y="0"/>
            <a:ext cx="9144000" cy="6858000"/>
          </a:xfrm>
          <a:prstGeom prst="rect">
            <a:avLst/>
          </a:prstGeom>
          <a:solidFill>
            <a:srgbClr val="1D2443"/>
          </a:solidFill>
          <a:ln w="25400" cap="flat" cmpd="sng">
            <a:solidFill>
              <a:srgbClr val="00305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cxnSp>
        <p:nvCxnSpPr>
          <p:cNvPr id="29" name="Google Shape;29;p60"/>
          <p:cNvCxnSpPr/>
          <p:nvPr/>
        </p:nvCxnSpPr>
        <p:spPr>
          <a:xfrm>
            <a:off x="452668" y="6436078"/>
            <a:ext cx="8238663" cy="0"/>
          </a:xfrm>
          <a:prstGeom prst="straightConnector1">
            <a:avLst/>
          </a:prstGeom>
          <a:noFill/>
          <a:ln w="9525" cap="flat" cmpd="sng">
            <a:solidFill>
              <a:schemeClr val="lt1"/>
            </a:solidFill>
            <a:prstDash val="solid"/>
            <a:round/>
            <a:headEnd type="none" w="sm" len="sm"/>
            <a:tailEnd type="none" w="sm" len="sm"/>
          </a:ln>
        </p:spPr>
      </p:cxnSp>
      <p:pic>
        <p:nvPicPr>
          <p:cNvPr id="30" name="Google Shape;30;p60"/>
          <p:cNvPicPr preferRelativeResize="0"/>
          <p:nvPr/>
        </p:nvPicPr>
        <p:blipFill rotWithShape="1">
          <a:blip r:embed="rId2">
            <a:alphaModFix/>
          </a:blip>
          <a:srcRect l="20184" t="34438" r="20437" b="42832"/>
          <a:stretch/>
        </p:blipFill>
        <p:spPr>
          <a:xfrm>
            <a:off x="7752521" y="196848"/>
            <a:ext cx="1215760" cy="318001"/>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1">
  <p:cSld name="Content Slide">
    <p:spTree>
      <p:nvGrpSpPr>
        <p:cNvPr id="1" name="Shape 31"/>
        <p:cNvGrpSpPr/>
        <p:nvPr/>
      </p:nvGrpSpPr>
      <p:grpSpPr>
        <a:xfrm>
          <a:off x="0" y="0"/>
          <a:ext cx="0" cy="0"/>
          <a:chOff x="0" y="0"/>
          <a:chExt cx="0" cy="0"/>
        </a:xfrm>
      </p:grpSpPr>
      <p:sp>
        <p:nvSpPr>
          <p:cNvPr id="32" name="Google Shape;32;g2fc9e35c8b8_2_504"/>
          <p:cNvSpPr txBox="1"/>
          <p:nvPr/>
        </p:nvSpPr>
        <p:spPr>
          <a:xfrm>
            <a:off x="421151" y="737304"/>
            <a:ext cx="8224800" cy="409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dk1"/>
              </a:buClr>
              <a:buSzPts val="4400"/>
              <a:buFont typeface="Calibri"/>
              <a:buNone/>
            </a:pPr>
            <a:endParaRPr sz="1600" b="1" i="0" u="none" strike="noStrike" cap="none">
              <a:solidFill>
                <a:schemeClr val="dk1"/>
              </a:solidFill>
              <a:latin typeface="Cambria"/>
              <a:ea typeface="Cambria"/>
              <a:cs typeface="Cambria"/>
              <a:sym typeface="Cambria"/>
            </a:endParaRPr>
          </a:p>
        </p:txBody>
      </p:sp>
      <p:pic>
        <p:nvPicPr>
          <p:cNvPr id="33" name="Google Shape;33;g2fc9e35c8b8_2_504" descr="Michigan PEVC"/>
          <p:cNvPicPr preferRelativeResize="0"/>
          <p:nvPr/>
        </p:nvPicPr>
        <p:blipFill rotWithShape="1">
          <a:blip r:embed="rId2">
            <a:alphaModFix/>
          </a:blip>
          <a:srcRect t="33791" b="40052"/>
          <a:stretch/>
        </p:blipFill>
        <p:spPr>
          <a:xfrm>
            <a:off x="7752521" y="209983"/>
            <a:ext cx="1215760" cy="318001"/>
          </a:xfrm>
          <a:prstGeom prst="rect">
            <a:avLst/>
          </a:prstGeom>
          <a:noFill/>
          <a:ln>
            <a:noFill/>
          </a:ln>
        </p:spPr>
      </p:pic>
      <p:sp>
        <p:nvSpPr>
          <p:cNvPr id="34" name="Google Shape;34;g2fc9e35c8b8_2_504"/>
          <p:cNvSpPr/>
          <p:nvPr/>
        </p:nvSpPr>
        <p:spPr>
          <a:xfrm>
            <a:off x="452668" y="5926254"/>
            <a:ext cx="8238663" cy="388883"/>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cxnSp>
        <p:nvCxnSpPr>
          <p:cNvPr id="35" name="Google Shape;35;g2fc9e35c8b8_2_504"/>
          <p:cNvCxnSpPr/>
          <p:nvPr/>
        </p:nvCxnSpPr>
        <p:spPr>
          <a:xfrm>
            <a:off x="0" y="1090355"/>
            <a:ext cx="9144000" cy="0"/>
          </a:xfrm>
          <a:prstGeom prst="straightConnector1">
            <a:avLst/>
          </a:prstGeom>
          <a:noFill/>
          <a:ln w="9525" cap="flat" cmpd="sng">
            <a:solidFill>
              <a:srgbClr val="151515"/>
            </a:solidFill>
            <a:prstDash val="solid"/>
            <a:round/>
            <a:headEnd type="none" w="sm" len="sm"/>
            <a:tailEnd type="none" w="sm" len="sm"/>
          </a:ln>
        </p:spPr>
      </p:cxnSp>
      <p:cxnSp>
        <p:nvCxnSpPr>
          <p:cNvPr id="36" name="Google Shape;36;g2fc9e35c8b8_2_504"/>
          <p:cNvCxnSpPr/>
          <p:nvPr/>
        </p:nvCxnSpPr>
        <p:spPr>
          <a:xfrm>
            <a:off x="452668" y="6436078"/>
            <a:ext cx="8238663" cy="0"/>
          </a:xfrm>
          <a:prstGeom prst="straightConnector1">
            <a:avLst/>
          </a:prstGeom>
          <a:noFill/>
          <a:ln w="9525" cap="flat" cmpd="sng">
            <a:solidFill>
              <a:srgbClr val="151515"/>
            </a:solidFill>
            <a:prstDash val="solid"/>
            <a:round/>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Times New Roman"/>
                <a:ea typeface="Times New Roman"/>
                <a:cs typeface="Times New Roman"/>
                <a:sym typeface="Times New Roman"/>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12" name="Google Shape;12;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959595"/>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13" name="Google Shape;13;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959595"/>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14" name="Google Shape;14;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959595"/>
                </a:solidFill>
                <a:latin typeface="Times New Roman"/>
                <a:ea typeface="Times New Roman"/>
                <a:cs typeface="Times New Roman"/>
                <a:sym typeface="Times New Roman"/>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959595"/>
                </a:solidFill>
                <a:latin typeface="Times New Roman"/>
                <a:ea typeface="Times New Roman"/>
                <a:cs typeface="Times New Roman"/>
                <a:sym typeface="Times New Roman"/>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959595"/>
                </a:solidFill>
                <a:latin typeface="Times New Roman"/>
                <a:ea typeface="Times New Roman"/>
                <a:cs typeface="Times New Roman"/>
                <a:sym typeface="Times New Roman"/>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959595"/>
                </a:solidFill>
                <a:latin typeface="Times New Roman"/>
                <a:ea typeface="Times New Roman"/>
                <a:cs typeface="Times New Roman"/>
                <a:sym typeface="Times New Roman"/>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959595"/>
                </a:solidFill>
                <a:latin typeface="Times New Roman"/>
                <a:ea typeface="Times New Roman"/>
                <a:cs typeface="Times New Roman"/>
                <a:sym typeface="Times New Roman"/>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959595"/>
                </a:solidFill>
                <a:latin typeface="Times New Roman"/>
                <a:ea typeface="Times New Roman"/>
                <a:cs typeface="Times New Roman"/>
                <a:sym typeface="Times New Roman"/>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959595"/>
                </a:solidFill>
                <a:latin typeface="Times New Roman"/>
                <a:ea typeface="Times New Roman"/>
                <a:cs typeface="Times New Roman"/>
                <a:sym typeface="Times New Roman"/>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959595"/>
                </a:solidFill>
                <a:latin typeface="Times New Roman"/>
                <a:ea typeface="Times New Roman"/>
                <a:cs typeface="Times New Roman"/>
                <a:sym typeface="Times New Roman"/>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959595"/>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precedenceresearch.com/gene-therapy-market"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jpe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jpe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41" name="Google Shape;41;p2"/>
          <p:cNvSpPr txBox="1"/>
          <p:nvPr/>
        </p:nvSpPr>
        <p:spPr>
          <a:xfrm>
            <a:off x="685799" y="1385514"/>
            <a:ext cx="7772400" cy="2387700"/>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0000"/>
              </a:buClr>
              <a:buSzPts val="5000"/>
              <a:buFont typeface="Arial"/>
              <a:buNone/>
            </a:pPr>
            <a:endParaRPr sz="5000" b="1" i="0" u="none" strike="noStrike" cap="none">
              <a:solidFill>
                <a:schemeClr val="lt1"/>
              </a:solidFill>
              <a:latin typeface="Garamond"/>
              <a:ea typeface="Garamond"/>
              <a:cs typeface="Garamond"/>
              <a:sym typeface="Garamond"/>
            </a:endParaRPr>
          </a:p>
          <a:p>
            <a:pPr marL="0" marR="0" lvl="0" indent="0" algn="l" rtl="0">
              <a:lnSpc>
                <a:spcPct val="90000"/>
              </a:lnSpc>
              <a:spcBef>
                <a:spcPts val="0"/>
              </a:spcBef>
              <a:spcAft>
                <a:spcPts val="0"/>
              </a:spcAft>
              <a:buClr>
                <a:srgbClr val="000000"/>
              </a:buClr>
              <a:buSzPts val="5000"/>
              <a:buFont typeface="Arial"/>
              <a:buNone/>
            </a:pPr>
            <a:r>
              <a:rPr lang="en-US" sz="5000" b="1" i="0" u="none" strike="noStrike" cap="none">
                <a:solidFill>
                  <a:schemeClr val="lt1"/>
                </a:solidFill>
                <a:latin typeface="Garamond"/>
                <a:ea typeface="Garamond"/>
                <a:cs typeface="Garamond"/>
                <a:sym typeface="Garamond"/>
              </a:rPr>
              <a:t>Michigan PEVC</a:t>
            </a:r>
            <a:endParaRPr sz="1400" b="0" i="0" u="none" strike="noStrike" cap="none">
              <a:solidFill>
                <a:srgbClr val="000000"/>
              </a:solidFill>
              <a:latin typeface="Arial"/>
              <a:ea typeface="Arial"/>
              <a:cs typeface="Arial"/>
              <a:sym typeface="Arial"/>
            </a:endParaRPr>
          </a:p>
        </p:txBody>
      </p:sp>
      <p:sp>
        <p:nvSpPr>
          <p:cNvPr id="42" name="Google Shape;42;p2"/>
          <p:cNvSpPr txBox="1"/>
          <p:nvPr/>
        </p:nvSpPr>
        <p:spPr>
          <a:xfrm>
            <a:off x="685798" y="3773214"/>
            <a:ext cx="7772399" cy="1015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US" sz="2000" b="1" i="0" u="none" strike="noStrike" cap="none">
                <a:solidFill>
                  <a:schemeClr val="lt1"/>
                </a:solidFill>
                <a:latin typeface="Garamond"/>
                <a:ea typeface="Garamond"/>
                <a:cs typeface="Garamond"/>
                <a:sym typeface="Garamond"/>
              </a:rPr>
              <a:t>Gene Therapy Vertical</a:t>
            </a:r>
            <a:endParaRPr sz="2000" b="1" i="0" u="none" strike="noStrike" cap="none">
              <a:solidFill>
                <a:schemeClr val="lt1"/>
              </a:solidFill>
              <a:latin typeface="Garamond"/>
              <a:ea typeface="Garamond"/>
              <a:cs typeface="Garamond"/>
              <a:sym typeface="Garamond"/>
            </a:endParaRPr>
          </a:p>
        </p:txBody>
      </p:sp>
      <p:sp>
        <p:nvSpPr>
          <p:cNvPr id="43" name="Google Shape;43;p2"/>
          <p:cNvSpPr txBox="1"/>
          <p:nvPr/>
        </p:nvSpPr>
        <p:spPr>
          <a:xfrm>
            <a:off x="685799" y="5145414"/>
            <a:ext cx="7772398" cy="83557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800" b="0" i="0" u="none" strike="noStrike" cap="none">
                <a:solidFill>
                  <a:schemeClr val="lt1"/>
                </a:solidFill>
                <a:latin typeface="Garamond"/>
                <a:ea typeface="Garamond"/>
                <a:cs typeface="Garamond"/>
                <a:sym typeface="Garamond"/>
              </a:rPr>
              <a:t>Winter 2026</a:t>
            </a:r>
            <a:endParaRPr sz="1800" b="0" i="0" u="none" strike="noStrike" cap="none">
              <a:solidFill>
                <a:schemeClr val="lt1"/>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1800"/>
              <a:buFont typeface="Arial"/>
              <a:buNone/>
            </a:pPr>
            <a:r>
              <a:rPr lang="en-US" sz="1800">
                <a:solidFill>
                  <a:schemeClr val="lt1"/>
                </a:solidFill>
                <a:latin typeface="Garamond"/>
                <a:ea typeface="Garamond"/>
                <a:cs typeface="Garamond"/>
                <a:sym typeface="Garamond"/>
              </a:rPr>
              <a:t>Ranai Shah &amp; Tej </a:t>
            </a:r>
            <a:r>
              <a:rPr lang="en-US" sz="1800" err="1">
                <a:solidFill>
                  <a:schemeClr val="lt1"/>
                </a:solidFill>
                <a:latin typeface="Garamond"/>
                <a:ea typeface="Garamond"/>
                <a:cs typeface="Garamond"/>
                <a:sym typeface="Garamond"/>
              </a:rPr>
              <a:t>Prattipati</a:t>
            </a:r>
            <a:endParaRPr sz="1800" b="0" i="0" u="none" strike="noStrike" cap="none">
              <a:solidFill>
                <a:schemeClr val="lt1"/>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1500"/>
              <a:buFont typeface="Arial"/>
              <a:buNone/>
            </a:pPr>
            <a:endParaRPr sz="1800" b="0" i="0" u="none" strike="noStrike" cap="none">
              <a:solidFill>
                <a:schemeClr val="lt1"/>
              </a:solidFill>
              <a:latin typeface="Garamond"/>
              <a:ea typeface="Garamond"/>
              <a:cs typeface="Garamond"/>
              <a:sym typeface="Garamon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8"/>
          <p:cNvSpPr/>
          <p:nvPr/>
        </p:nvSpPr>
        <p:spPr>
          <a:xfrm>
            <a:off x="453968" y="1488832"/>
            <a:ext cx="2661138" cy="1184030"/>
          </a:xfrm>
          <a:prstGeom prst="trapezoid">
            <a:avLst>
              <a:gd name="adj" fmla="val 25000"/>
            </a:avLst>
          </a:prstGeom>
          <a:solidFill>
            <a:srgbClr val="CDD2E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8" name="Google Shape;118;p8"/>
          <p:cNvSpPr/>
          <p:nvPr/>
        </p:nvSpPr>
        <p:spPr>
          <a:xfrm>
            <a:off x="6028896" y="1488832"/>
            <a:ext cx="2661138" cy="1184030"/>
          </a:xfrm>
          <a:prstGeom prst="trapezoid">
            <a:avLst>
              <a:gd name="adj" fmla="val 25000"/>
            </a:avLst>
          </a:prstGeom>
          <a:solidFill>
            <a:srgbClr val="CDD2E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9" name="Google Shape;119;p8"/>
          <p:cNvSpPr/>
          <p:nvPr/>
        </p:nvSpPr>
        <p:spPr>
          <a:xfrm>
            <a:off x="453968" y="506499"/>
            <a:ext cx="8267608" cy="321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500"/>
              <a:buFont typeface="Arial"/>
              <a:buNone/>
            </a:pPr>
            <a:r>
              <a:rPr lang="en-US" sz="2500" b="1">
                <a:solidFill>
                  <a:srgbClr val="151515"/>
                </a:solidFill>
                <a:latin typeface="Garamond"/>
                <a:sym typeface="Garamond"/>
              </a:rPr>
              <a:t>Gene Therapy Overview</a:t>
            </a:r>
            <a:endParaRPr sz="1400" b="0" i="0" u="none" strike="noStrike" cap="none">
              <a:solidFill>
                <a:srgbClr val="000000"/>
              </a:solidFill>
              <a:latin typeface="Arial"/>
              <a:ea typeface="Arial"/>
              <a:cs typeface="Arial"/>
              <a:sym typeface="Arial"/>
            </a:endParaRPr>
          </a:p>
        </p:txBody>
      </p:sp>
      <p:sp>
        <p:nvSpPr>
          <p:cNvPr id="120" name="Google Shape;120;p8"/>
          <p:cNvSpPr txBox="1"/>
          <p:nvPr/>
        </p:nvSpPr>
        <p:spPr>
          <a:xfrm>
            <a:off x="8086127" y="6544036"/>
            <a:ext cx="635449" cy="212366"/>
          </a:xfrm>
          <a:prstGeom prst="rect">
            <a:avLst/>
          </a:prstGeom>
          <a:noFill/>
          <a:ln>
            <a:noFill/>
          </a:ln>
        </p:spPr>
        <p:txBody>
          <a:bodyPr spcFirstLastPara="1" wrap="square" lIns="0" tIns="0" rIns="0" bIns="0" anchor="ctr" anchorCtr="0">
            <a:spAutoFit/>
          </a:bodyPr>
          <a:lstStyle/>
          <a:p>
            <a:pPr marL="38100" marR="0" lvl="0" indent="0" algn="r" rtl="0">
              <a:lnSpc>
                <a:spcPct val="114583"/>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Garamond"/>
                <a:ea typeface="Garamond"/>
                <a:cs typeface="Garamond"/>
                <a:sym typeface="Garamond"/>
              </a:rPr>
              <a:t>2</a:t>
            </a:fld>
            <a:endParaRPr sz="1200" b="0" i="0" u="none" strike="noStrike" cap="none">
              <a:solidFill>
                <a:srgbClr val="000000"/>
              </a:solidFill>
              <a:latin typeface="Garamond"/>
              <a:ea typeface="Garamond"/>
              <a:cs typeface="Garamond"/>
              <a:sym typeface="Garamond"/>
            </a:endParaRPr>
          </a:p>
        </p:txBody>
      </p:sp>
      <p:sp>
        <p:nvSpPr>
          <p:cNvPr id="121" name="Google Shape;121;p8"/>
          <p:cNvSpPr/>
          <p:nvPr/>
        </p:nvSpPr>
        <p:spPr>
          <a:xfrm rot="10800000">
            <a:off x="3241431" y="1488832"/>
            <a:ext cx="2661138" cy="1184030"/>
          </a:xfrm>
          <a:prstGeom prst="trapezoid">
            <a:avLst>
              <a:gd name="adj" fmla="val 25000"/>
            </a:avLst>
          </a:prstGeom>
          <a:solidFill>
            <a:srgbClr val="CDD2E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2" name="Google Shape;122;p8"/>
          <p:cNvSpPr/>
          <p:nvPr/>
        </p:nvSpPr>
        <p:spPr>
          <a:xfrm>
            <a:off x="751363" y="1708392"/>
            <a:ext cx="2066347" cy="744909"/>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151515"/>
                </a:solidFill>
                <a:latin typeface="Garamond"/>
                <a:ea typeface="Garamond"/>
                <a:cs typeface="Garamond"/>
                <a:sym typeface="Garamond"/>
              </a:rPr>
              <a:t>Platform &amp; Technology</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rgbClr val="151515"/>
              </a:solidFill>
              <a:latin typeface="Garamond"/>
              <a:ea typeface="Garamond"/>
              <a:cs typeface="Garamond"/>
              <a:sym typeface="Garamond"/>
            </a:endParaRPr>
          </a:p>
          <a:p>
            <a:pPr marL="0" marR="0" lvl="0" indent="0" algn="ctr" rtl="0">
              <a:lnSpc>
                <a:spcPct val="100000"/>
              </a:lnSpc>
              <a:spcBef>
                <a:spcPts val="0"/>
              </a:spcBef>
              <a:spcAft>
                <a:spcPts val="0"/>
              </a:spcAft>
              <a:buClr>
                <a:srgbClr val="000000"/>
              </a:buClr>
              <a:buSzPts val="1400"/>
              <a:buFont typeface="Arial"/>
              <a:buNone/>
            </a:pPr>
            <a:r>
              <a:rPr lang="en-US">
                <a:solidFill>
                  <a:srgbClr val="151515"/>
                </a:solidFill>
                <a:latin typeface="Garamond"/>
                <a:ea typeface="Garamond"/>
                <a:cs typeface="Garamond"/>
                <a:sym typeface="Garamond"/>
              </a:rPr>
              <a:t>Development of gene editing technologies</a:t>
            </a:r>
            <a:endParaRPr sz="1400" b="0" i="0" u="none" strike="noStrike" cap="none">
              <a:solidFill>
                <a:srgbClr val="151515"/>
              </a:solidFill>
              <a:latin typeface="Garamond"/>
              <a:ea typeface="Garamond"/>
              <a:cs typeface="Garamond"/>
              <a:sym typeface="Garamond"/>
            </a:endParaRPr>
          </a:p>
        </p:txBody>
      </p:sp>
      <p:sp>
        <p:nvSpPr>
          <p:cNvPr id="123" name="Google Shape;123;p8"/>
          <p:cNvSpPr/>
          <p:nvPr/>
        </p:nvSpPr>
        <p:spPr>
          <a:xfrm>
            <a:off x="3538826" y="1708392"/>
            <a:ext cx="2066347" cy="744909"/>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151515"/>
                </a:solidFill>
                <a:latin typeface="Garamond"/>
                <a:ea typeface="Garamond"/>
                <a:cs typeface="Garamond"/>
                <a:sym typeface="Garamond"/>
              </a:rPr>
              <a:t>Research/Developers</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rgbClr val="151515"/>
              </a:solidFill>
              <a:latin typeface="Garamond"/>
              <a:ea typeface="Garamond"/>
              <a:cs typeface="Garamond"/>
              <a:sym typeface="Garamond"/>
            </a:endParaRPr>
          </a:p>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151515"/>
                </a:solidFill>
                <a:latin typeface="Garamond"/>
                <a:ea typeface="Garamond"/>
                <a:cs typeface="Garamond"/>
                <a:sym typeface="Garamond"/>
              </a:rPr>
              <a:t>Utilize editing platforms to develop new treatments</a:t>
            </a:r>
            <a:endParaRPr sz="1400" b="0" i="0" u="none" strike="noStrike" cap="none">
              <a:solidFill>
                <a:srgbClr val="151515"/>
              </a:solidFill>
              <a:latin typeface="Garamond"/>
              <a:ea typeface="Garamond"/>
              <a:cs typeface="Garamond"/>
              <a:sym typeface="Garamond"/>
            </a:endParaRPr>
          </a:p>
        </p:txBody>
      </p:sp>
      <p:sp>
        <p:nvSpPr>
          <p:cNvPr id="124" name="Google Shape;124;p8"/>
          <p:cNvSpPr/>
          <p:nvPr/>
        </p:nvSpPr>
        <p:spPr>
          <a:xfrm>
            <a:off x="6326291" y="1728383"/>
            <a:ext cx="2066347" cy="744909"/>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151515"/>
                </a:solidFill>
                <a:latin typeface="Garamond"/>
                <a:ea typeface="Garamond"/>
                <a:cs typeface="Garamond"/>
                <a:sym typeface="Garamond"/>
              </a:rPr>
              <a:t>Commercialization</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rgbClr val="151515"/>
              </a:solidFill>
              <a:latin typeface="Garamond"/>
              <a:ea typeface="Garamond"/>
              <a:cs typeface="Garamond"/>
              <a:sym typeface="Garamond"/>
            </a:endParaRPr>
          </a:p>
          <a:p>
            <a:pPr marL="0" marR="0" lvl="0" indent="0" algn="ctr" rtl="0">
              <a:lnSpc>
                <a:spcPct val="100000"/>
              </a:lnSpc>
              <a:spcBef>
                <a:spcPts val="0"/>
              </a:spcBef>
              <a:spcAft>
                <a:spcPts val="0"/>
              </a:spcAft>
              <a:buClr>
                <a:srgbClr val="000000"/>
              </a:buClr>
              <a:buSzPts val="1400"/>
              <a:buFont typeface="Arial"/>
              <a:buNone/>
            </a:pPr>
            <a:r>
              <a:rPr lang="en-US">
                <a:solidFill>
                  <a:srgbClr val="151515"/>
                </a:solidFill>
                <a:latin typeface="Garamond"/>
                <a:ea typeface="Garamond"/>
                <a:cs typeface="Garamond"/>
                <a:sym typeface="Garamond"/>
              </a:rPr>
              <a:t>Distribution of therapies to hospitals and clinics</a:t>
            </a:r>
            <a:endParaRPr sz="1400" b="0" i="0" u="none" strike="noStrike" cap="none">
              <a:solidFill>
                <a:srgbClr val="151515"/>
              </a:solidFill>
              <a:latin typeface="Garamond"/>
              <a:ea typeface="Garamond"/>
              <a:cs typeface="Garamond"/>
              <a:sym typeface="Garamond"/>
            </a:endParaRPr>
          </a:p>
        </p:txBody>
      </p:sp>
      <p:sp>
        <p:nvSpPr>
          <p:cNvPr id="125" name="Google Shape;125;p8"/>
          <p:cNvSpPr/>
          <p:nvPr/>
        </p:nvSpPr>
        <p:spPr>
          <a:xfrm>
            <a:off x="453968" y="3177000"/>
            <a:ext cx="8236066" cy="421985"/>
          </a:xfrm>
          <a:prstGeom prst="rect">
            <a:avLst/>
          </a:prstGeom>
          <a:solidFill>
            <a:srgbClr val="001F5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600" b="1" i="0" u="none" strike="noStrike" cap="none">
                <a:solidFill>
                  <a:schemeClr val="lt1"/>
                </a:solidFill>
                <a:latin typeface="Garamond"/>
                <a:ea typeface="Garamond"/>
                <a:cs typeface="Garamond"/>
                <a:sym typeface="Garamond"/>
              </a:rPr>
              <a:t>Range of Players</a:t>
            </a:r>
            <a:endParaRPr sz="1400" b="0" i="0" u="none" strike="noStrike" cap="none">
              <a:solidFill>
                <a:srgbClr val="000000"/>
              </a:solidFill>
              <a:latin typeface="Arial"/>
              <a:ea typeface="Arial"/>
              <a:cs typeface="Arial"/>
              <a:sym typeface="Arial"/>
            </a:endParaRPr>
          </a:p>
        </p:txBody>
      </p:sp>
      <p:sp>
        <p:nvSpPr>
          <p:cNvPr id="126" name="Google Shape;126;p8"/>
          <p:cNvSpPr/>
          <p:nvPr/>
        </p:nvSpPr>
        <p:spPr>
          <a:xfrm>
            <a:off x="453969" y="3915463"/>
            <a:ext cx="1503786" cy="867507"/>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4000"/>
              <a:buFont typeface="Arial"/>
              <a:buNone/>
            </a:pPr>
            <a:r>
              <a:rPr lang="en-US" sz="4000" b="1" i="0" u="none" strike="noStrike" cap="none">
                <a:solidFill>
                  <a:srgbClr val="151515"/>
                </a:solidFill>
                <a:latin typeface="Garamond"/>
                <a:ea typeface="Garamond"/>
                <a:cs typeface="Garamond"/>
                <a:sym typeface="Garamond"/>
              </a:rPr>
              <a:t>350</a:t>
            </a:r>
            <a:endParaRPr sz="1400" b="0" i="0" u="none" strike="noStrike" cap="none">
              <a:solidFill>
                <a:srgbClr val="000000"/>
              </a:solidFill>
              <a:latin typeface="Arial"/>
              <a:ea typeface="Arial"/>
              <a:cs typeface="Arial"/>
              <a:sym typeface="Arial"/>
            </a:endParaRPr>
          </a:p>
        </p:txBody>
      </p:sp>
      <p:sp>
        <p:nvSpPr>
          <p:cNvPr id="127" name="Google Shape;127;p8"/>
          <p:cNvSpPr/>
          <p:nvPr/>
        </p:nvSpPr>
        <p:spPr>
          <a:xfrm>
            <a:off x="453967" y="5149608"/>
            <a:ext cx="1503787" cy="867507"/>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4000"/>
              <a:buFont typeface="Arial"/>
              <a:buNone/>
            </a:pPr>
            <a:r>
              <a:rPr lang="en-US" sz="4000" b="1">
                <a:solidFill>
                  <a:srgbClr val="151515"/>
                </a:solidFill>
                <a:latin typeface="Garamond"/>
                <a:sym typeface="Garamond"/>
              </a:rPr>
              <a:t>11B</a:t>
            </a:r>
            <a:endParaRPr sz="1400" b="0" i="0" u="none" strike="noStrike" cap="none">
              <a:solidFill>
                <a:srgbClr val="000000"/>
              </a:solidFill>
              <a:latin typeface="Arial"/>
              <a:ea typeface="Arial"/>
              <a:cs typeface="Arial"/>
              <a:sym typeface="Arial"/>
            </a:endParaRPr>
          </a:p>
        </p:txBody>
      </p:sp>
      <p:sp>
        <p:nvSpPr>
          <p:cNvPr id="128" name="Google Shape;128;p8"/>
          <p:cNvSpPr/>
          <p:nvPr/>
        </p:nvSpPr>
        <p:spPr>
          <a:xfrm>
            <a:off x="1248195" y="3938908"/>
            <a:ext cx="1581072" cy="82061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151515"/>
                </a:solidFill>
                <a:latin typeface="Garamond"/>
                <a:ea typeface="Garamond"/>
                <a:cs typeface="Garamond"/>
                <a:sym typeface="Garamond"/>
              </a:rPr>
              <a:t>Main companies that dominate this market space</a:t>
            </a:r>
            <a:endParaRPr sz="1400" b="0" i="0" u="none" strike="noStrike" cap="none">
              <a:solidFill>
                <a:srgbClr val="000000"/>
              </a:solidFill>
              <a:latin typeface="Arial"/>
              <a:ea typeface="Arial"/>
              <a:cs typeface="Arial"/>
              <a:sym typeface="Arial"/>
            </a:endParaRPr>
          </a:p>
        </p:txBody>
      </p:sp>
      <p:sp>
        <p:nvSpPr>
          <p:cNvPr id="129" name="Google Shape;129;p8"/>
          <p:cNvSpPr/>
          <p:nvPr/>
        </p:nvSpPr>
        <p:spPr>
          <a:xfrm>
            <a:off x="1243420" y="5173053"/>
            <a:ext cx="1581072" cy="82061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151515"/>
                </a:solidFill>
                <a:latin typeface="Garamond"/>
                <a:ea typeface="Garamond"/>
                <a:cs typeface="Garamond"/>
                <a:sym typeface="Garamond"/>
              </a:rPr>
              <a:t>Market size for gene therapy</a:t>
            </a:r>
            <a:r>
              <a:rPr lang="en-US" sz="1400" b="0" i="0" u="none" strike="noStrike" cap="none" baseline="30000">
                <a:solidFill>
                  <a:srgbClr val="151515"/>
                </a:solidFill>
                <a:latin typeface="Garamond"/>
                <a:ea typeface="Garamond"/>
                <a:cs typeface="Garamond"/>
                <a:sym typeface="Garamond"/>
              </a:rPr>
              <a:t>1</a:t>
            </a:r>
            <a:endParaRPr sz="1400" b="0" i="0" u="none" strike="noStrike" cap="none">
              <a:solidFill>
                <a:srgbClr val="000000"/>
              </a:solidFill>
              <a:latin typeface="Arial"/>
              <a:ea typeface="Arial"/>
              <a:cs typeface="Arial"/>
              <a:sym typeface="Arial"/>
            </a:endParaRPr>
          </a:p>
        </p:txBody>
      </p:sp>
      <p:sp>
        <p:nvSpPr>
          <p:cNvPr id="130" name="Google Shape;130;p8"/>
          <p:cNvSpPr/>
          <p:nvPr/>
        </p:nvSpPr>
        <p:spPr>
          <a:xfrm>
            <a:off x="5169877" y="3983635"/>
            <a:ext cx="3551699" cy="59615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151515"/>
                </a:solidFill>
                <a:latin typeface="Garamond"/>
                <a:ea typeface="Garamond"/>
                <a:cs typeface="Garamond"/>
                <a:sym typeface="Garamond"/>
              </a:rPr>
              <a:t>[1] </a:t>
            </a:r>
            <a:r>
              <a:rPr lang="en-US">
                <a:solidFill>
                  <a:srgbClr val="151515"/>
                </a:solidFill>
                <a:latin typeface="Garamond"/>
                <a:ea typeface="Garamond"/>
                <a:cs typeface="Garamond"/>
                <a:sym typeface="Garamond"/>
              </a:rPr>
              <a:t>Mid to Small</a:t>
            </a:r>
            <a:r>
              <a:rPr lang="en-US" sz="1400" b="0" i="0" u="none" strike="noStrike" cap="none">
                <a:solidFill>
                  <a:srgbClr val="151515"/>
                </a:solidFill>
                <a:latin typeface="Garamond"/>
                <a:ea typeface="Garamond"/>
                <a:cs typeface="Garamond"/>
                <a:sym typeface="Garamond"/>
              </a:rPr>
              <a:t> firms make up ~50% of market</a:t>
            </a:r>
            <a:endParaRPr sz="1400" b="0" i="0" u="none" strike="noStrike" cap="none">
              <a:solidFill>
                <a:srgbClr val="000000"/>
              </a:solidFill>
              <a:latin typeface="Arial"/>
              <a:ea typeface="Arial"/>
              <a:cs typeface="Arial"/>
              <a:sym typeface="Arial"/>
            </a:endParaRPr>
          </a:p>
        </p:txBody>
      </p:sp>
      <p:sp>
        <p:nvSpPr>
          <p:cNvPr id="131" name="Google Shape;131;p8"/>
          <p:cNvSpPr/>
          <p:nvPr/>
        </p:nvSpPr>
        <p:spPr>
          <a:xfrm>
            <a:off x="5169877" y="5443747"/>
            <a:ext cx="3551699" cy="59615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151515"/>
                </a:solidFill>
                <a:latin typeface="Garamond"/>
                <a:ea typeface="Garamond"/>
                <a:cs typeface="Garamond"/>
                <a:sym typeface="Garamond"/>
              </a:rPr>
              <a:t>[3]</a:t>
            </a:r>
            <a:r>
              <a:rPr lang="en-US" b="1">
                <a:solidFill>
                  <a:srgbClr val="151515"/>
                </a:solidFill>
                <a:latin typeface="Garamond"/>
                <a:ea typeface="Garamond"/>
                <a:cs typeface="Garamond"/>
                <a:sym typeface="Garamond"/>
              </a:rPr>
              <a:t> </a:t>
            </a:r>
            <a:r>
              <a:rPr lang="en-US">
                <a:solidFill>
                  <a:srgbClr val="151515"/>
                </a:solidFill>
                <a:latin typeface="Garamond"/>
                <a:ea typeface="Garamond"/>
                <a:cs typeface="Garamond"/>
                <a:sym typeface="Garamond"/>
              </a:rPr>
              <a:t>Projected CAGR of ~19.0% until 2030</a:t>
            </a:r>
            <a:r>
              <a:rPr lang="en-US" baseline="30000">
                <a:solidFill>
                  <a:srgbClr val="151515"/>
                </a:solidFill>
                <a:latin typeface="Garamond"/>
                <a:ea typeface="Garamond"/>
                <a:cs typeface="Garamond"/>
                <a:sym typeface="Garamond"/>
              </a:rPr>
              <a:t>2</a:t>
            </a:r>
            <a:r>
              <a:rPr lang="en-US" sz="1400" b="1" i="0" u="none" strike="noStrike" cap="none">
                <a:solidFill>
                  <a:srgbClr val="151515"/>
                </a:solidFill>
                <a:latin typeface="Garamond"/>
                <a:ea typeface="Garamond"/>
                <a:cs typeface="Garamond"/>
                <a:sym typeface="Garamond"/>
              </a:rPr>
              <a:t> </a:t>
            </a:r>
            <a:endParaRPr sz="1400" b="0" i="0" u="none" strike="noStrike" cap="none">
              <a:solidFill>
                <a:srgbClr val="000000"/>
              </a:solidFill>
              <a:latin typeface="Arial"/>
              <a:ea typeface="Arial"/>
              <a:cs typeface="Arial"/>
              <a:sym typeface="Arial"/>
            </a:endParaRPr>
          </a:p>
        </p:txBody>
      </p:sp>
      <p:sp>
        <p:nvSpPr>
          <p:cNvPr id="132" name="Google Shape;132;p8"/>
          <p:cNvSpPr/>
          <p:nvPr/>
        </p:nvSpPr>
        <p:spPr>
          <a:xfrm>
            <a:off x="5169877" y="4723688"/>
            <a:ext cx="3551699" cy="59615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151515"/>
                </a:solidFill>
                <a:latin typeface="Garamond"/>
                <a:ea typeface="Garamond"/>
                <a:cs typeface="Garamond"/>
                <a:sym typeface="Garamond"/>
              </a:rPr>
              <a:t>[2] </a:t>
            </a:r>
            <a:r>
              <a:rPr lang="en-US" sz="1400" b="0" i="0" u="none" strike="noStrike" cap="none">
                <a:solidFill>
                  <a:srgbClr val="151515"/>
                </a:solidFill>
                <a:latin typeface="Garamond"/>
                <a:ea typeface="Garamond"/>
                <a:cs typeface="Garamond"/>
                <a:sym typeface="Garamond"/>
              </a:rPr>
              <a:t>High M&amp;A Volume, many small players</a:t>
            </a:r>
            <a:endParaRPr sz="1400" b="0" i="0" u="none" strike="noStrike" cap="none">
              <a:solidFill>
                <a:srgbClr val="000000"/>
              </a:solidFill>
              <a:latin typeface="Arial"/>
              <a:ea typeface="Arial"/>
              <a:cs typeface="Arial"/>
              <a:sym typeface="Arial"/>
            </a:endParaRPr>
          </a:p>
        </p:txBody>
      </p:sp>
      <p:sp>
        <p:nvSpPr>
          <p:cNvPr id="133" name="Google Shape;133;p8"/>
          <p:cNvSpPr/>
          <p:nvPr/>
        </p:nvSpPr>
        <p:spPr>
          <a:xfrm>
            <a:off x="3241431" y="3983635"/>
            <a:ext cx="1330569" cy="2056262"/>
          </a:xfrm>
          <a:prstGeom prst="rect">
            <a:avLst/>
          </a:prstGeom>
          <a:solidFill>
            <a:srgbClr val="4E619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Key Industry Metrics</a:t>
            </a:r>
            <a:endParaRPr sz="1400" b="0" i="0" u="none" strike="noStrike" cap="none">
              <a:solidFill>
                <a:srgbClr val="000000"/>
              </a:solidFill>
              <a:latin typeface="Arial"/>
              <a:ea typeface="Arial"/>
              <a:cs typeface="Arial"/>
              <a:sym typeface="Arial"/>
            </a:endParaRPr>
          </a:p>
        </p:txBody>
      </p:sp>
      <p:sp>
        <p:nvSpPr>
          <p:cNvPr id="134" name="Google Shape;134;p8"/>
          <p:cNvSpPr/>
          <p:nvPr/>
        </p:nvSpPr>
        <p:spPr>
          <a:xfrm rot="5400000">
            <a:off x="3789719" y="4780149"/>
            <a:ext cx="2042027" cy="477469"/>
          </a:xfrm>
          <a:prstGeom prst="triangle">
            <a:avLst>
              <a:gd name="adj" fmla="val 50000"/>
            </a:avLst>
          </a:prstGeom>
          <a:solidFill>
            <a:srgbClr val="4E619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 name="TextBox 1">
            <a:extLst>
              <a:ext uri="{FF2B5EF4-FFF2-40B4-BE49-F238E27FC236}">
                <a16:creationId xmlns:a16="http://schemas.microsoft.com/office/drawing/2014/main" id="{AB41C0E9-75BA-C06F-3B3E-9CEEC7167566}"/>
              </a:ext>
            </a:extLst>
          </p:cNvPr>
          <p:cNvSpPr txBox="1"/>
          <p:nvPr/>
        </p:nvSpPr>
        <p:spPr>
          <a:xfrm>
            <a:off x="352367" y="6453426"/>
            <a:ext cx="5973924" cy="230832"/>
          </a:xfrm>
          <a:prstGeom prst="rect">
            <a:avLst/>
          </a:prstGeom>
          <a:noFill/>
        </p:spPr>
        <p:txBody>
          <a:bodyPr wrap="square" rtlCol="0">
            <a:spAutoFit/>
          </a:bodyPr>
          <a:lstStyle/>
          <a:p>
            <a:r>
              <a:rPr lang="en-US" sz="900">
                <a:latin typeface="Garamond" panose="02020404030301010803" pitchFamily="18" charset="0"/>
              </a:rPr>
              <a:t>[1] </a:t>
            </a:r>
            <a:r>
              <a:rPr lang="en-US" sz="900">
                <a:latin typeface="Garamond" panose="02020404030301010803" pitchFamily="18" charset="0"/>
                <a:hlinkClick r:id="rId3"/>
              </a:rPr>
              <a:t>www.precedenceresearch.com/gene-therapy-market</a:t>
            </a:r>
            <a:r>
              <a:rPr lang="en-US" sz="900">
                <a:latin typeface="Garamond" panose="02020404030301010803" pitchFamily="18" charset="0"/>
              </a:rPr>
              <a:t> | [2] www.grandviewresearch.com/industry-analysis/gene-therapy-market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5"/>
          <p:cNvSpPr/>
          <p:nvPr/>
        </p:nvSpPr>
        <p:spPr>
          <a:xfrm>
            <a:off x="453968" y="506499"/>
            <a:ext cx="8267608" cy="321600"/>
          </a:xfrm>
          <a:prstGeom prst="rect">
            <a:avLst/>
          </a:prstGeom>
          <a:noFill/>
          <a:ln>
            <a:noFill/>
          </a:ln>
        </p:spPr>
        <p:txBody>
          <a:bodyPr spcFirstLastPara="1" wrap="square" lIns="91425" tIns="91425" rIns="91425" bIns="91425" anchor="ctr" anchorCtr="0">
            <a:noAutofit/>
          </a:bodyPr>
          <a:lstStyle/>
          <a:p>
            <a:r>
              <a:rPr lang="en-US" sz="2500" b="1">
                <a:solidFill>
                  <a:srgbClr val="151515"/>
                </a:solidFill>
                <a:latin typeface="Garamond"/>
                <a:sym typeface="Garamond"/>
              </a:rPr>
              <a:t>Business Models</a:t>
            </a:r>
            <a:endParaRPr lang="en-US"/>
          </a:p>
        </p:txBody>
      </p:sp>
      <p:sp>
        <p:nvSpPr>
          <p:cNvPr id="72" name="Google Shape;72;p5"/>
          <p:cNvSpPr txBox="1"/>
          <p:nvPr/>
        </p:nvSpPr>
        <p:spPr>
          <a:xfrm>
            <a:off x="553793" y="1271581"/>
            <a:ext cx="2442489" cy="7260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a:lnSpc>
                <a:spcPct val="90000"/>
              </a:lnSpc>
              <a:spcBef>
                <a:spcPts val="0"/>
              </a:spcBef>
              <a:spcAft>
                <a:spcPts val="0"/>
              </a:spcAft>
              <a:buNone/>
            </a:pPr>
            <a:r>
              <a:rPr lang="en-US" sz="1200" b="1">
                <a:solidFill>
                  <a:schemeClr val="lt1"/>
                </a:solidFill>
                <a:latin typeface="Garamond"/>
                <a:sym typeface="Garamond"/>
              </a:rPr>
              <a:t>Platform/Licensing</a:t>
            </a:r>
            <a:endParaRPr lang="en-US" sz="1200" b="1">
              <a:solidFill>
                <a:schemeClr val="lt1"/>
              </a:solidFill>
              <a:latin typeface="Garamond"/>
            </a:endParaRPr>
          </a:p>
        </p:txBody>
      </p:sp>
      <p:sp>
        <p:nvSpPr>
          <p:cNvPr id="73" name="Google Shape;73;p5"/>
          <p:cNvSpPr txBox="1"/>
          <p:nvPr/>
        </p:nvSpPr>
        <p:spPr>
          <a:xfrm>
            <a:off x="3371835" y="1271581"/>
            <a:ext cx="2442490" cy="726000"/>
          </a:xfrm>
          <a:prstGeom prst="rect">
            <a:avLst/>
          </a:prstGeom>
          <a:solidFill>
            <a:schemeClr val="accent2"/>
          </a:solidFill>
          <a:ln>
            <a:noFill/>
          </a:ln>
        </p:spPr>
        <p:txBody>
          <a:bodyPr spcFirstLastPara="1" wrap="square" lIns="91425" tIns="45700" rIns="91425" bIns="45700" anchor="ctr" anchorCtr="0">
            <a:noAutofit/>
          </a:bodyPr>
          <a:lstStyle/>
          <a:p>
            <a:pPr algn="ctr">
              <a:lnSpc>
                <a:spcPct val="90000"/>
              </a:lnSpc>
            </a:pPr>
            <a:r>
              <a:rPr lang="en-US" sz="1200" b="1">
                <a:solidFill>
                  <a:schemeClr val="lt1"/>
                </a:solidFill>
                <a:latin typeface="Garamond"/>
              </a:rPr>
              <a:t>Big Pharma</a:t>
            </a:r>
            <a:endParaRPr lang="en-US"/>
          </a:p>
        </p:txBody>
      </p:sp>
      <p:sp>
        <p:nvSpPr>
          <p:cNvPr id="75" name="Google Shape;75;p5"/>
          <p:cNvSpPr txBox="1"/>
          <p:nvPr/>
        </p:nvSpPr>
        <p:spPr>
          <a:xfrm>
            <a:off x="6165942" y="1271581"/>
            <a:ext cx="2406583" cy="726000"/>
          </a:xfrm>
          <a:prstGeom prst="rect">
            <a:avLst/>
          </a:prstGeom>
          <a:solidFill>
            <a:schemeClr val="accent2"/>
          </a:solidFill>
          <a:ln>
            <a:noFill/>
          </a:ln>
        </p:spPr>
        <p:txBody>
          <a:bodyPr spcFirstLastPara="1" wrap="square" lIns="91425" tIns="45700" rIns="91425" bIns="45700" anchor="ctr" anchorCtr="0">
            <a:noAutofit/>
          </a:bodyPr>
          <a:lstStyle/>
          <a:p>
            <a:pPr algn="ctr">
              <a:lnSpc>
                <a:spcPct val="90000"/>
              </a:lnSpc>
            </a:pPr>
            <a:r>
              <a:rPr lang="en-US" sz="1200" b="1">
                <a:solidFill>
                  <a:schemeClr val="lt1"/>
                </a:solidFill>
                <a:latin typeface="Garamond"/>
              </a:rPr>
              <a:t>CDMO (Tools/Infra)</a:t>
            </a:r>
          </a:p>
        </p:txBody>
      </p:sp>
      <p:sp>
        <p:nvSpPr>
          <p:cNvPr id="77" name="Google Shape;77;p5"/>
          <p:cNvSpPr/>
          <p:nvPr/>
        </p:nvSpPr>
        <p:spPr>
          <a:xfrm>
            <a:off x="553793" y="2724080"/>
            <a:ext cx="2442489" cy="3620673"/>
          </a:xfrm>
          <a:prstGeom prst="rect">
            <a:avLst/>
          </a:prstGeom>
          <a:solidFill>
            <a:srgbClr val="F2F2F2"/>
          </a:solidFill>
          <a:ln>
            <a:noFill/>
          </a:ln>
        </p:spPr>
        <p:txBody>
          <a:bodyPr spcFirstLastPara="1" wrap="square" lIns="91425" tIns="45700" rIns="91425" bIns="45700" anchor="ctr" anchorCtr="0">
            <a:noAutofit/>
          </a:bodyPr>
          <a:lstStyle/>
          <a:p>
            <a:pPr algn="ctr"/>
            <a:r>
              <a:rPr lang="en-US" sz="1200" b="1">
                <a:solidFill>
                  <a:srgbClr val="151515"/>
                </a:solidFill>
                <a:latin typeface="Garamond"/>
              </a:rPr>
              <a:t>Overview/Financial Profile:,</a:t>
            </a:r>
            <a:endParaRPr lang="en-US"/>
          </a:p>
          <a:p>
            <a:pPr algn="ctr"/>
            <a:r>
              <a:rPr lang="en-US" sz="1200">
                <a:solidFill>
                  <a:srgbClr val="151515"/>
                </a:solidFill>
                <a:latin typeface="Garamond"/>
              </a:rPr>
              <a:t>R&amp;D-heavy, prone to burning cash. Develop the basis of the specialized gene therapy  technology (in addition to University Labs), then pawn off to CDMOs for manufacturing.</a:t>
            </a:r>
            <a:endParaRPr lang="en-US"/>
          </a:p>
          <a:p>
            <a:pPr algn="ctr"/>
            <a:endParaRPr lang="en-US" sz="1200">
              <a:solidFill>
                <a:srgbClr val="151515"/>
              </a:solidFill>
              <a:latin typeface="Garamond"/>
            </a:endParaRPr>
          </a:p>
          <a:p>
            <a:pPr algn="ctr"/>
            <a:r>
              <a:rPr lang="en-US" sz="1200" b="1">
                <a:solidFill>
                  <a:srgbClr val="151515"/>
                </a:solidFill>
                <a:latin typeface="Garamond"/>
              </a:rPr>
              <a:t>Price Component: </a:t>
            </a:r>
            <a:endParaRPr lang="en-US" sz="1200">
              <a:solidFill>
                <a:srgbClr val="151515"/>
              </a:solidFill>
              <a:latin typeface="Garamond"/>
            </a:endParaRPr>
          </a:p>
          <a:p>
            <a:pPr algn="ctr"/>
            <a:r>
              <a:rPr lang="en-US" sz="1200">
                <a:solidFill>
                  <a:srgbClr val="151515"/>
                </a:solidFill>
                <a:latin typeface="Garamond"/>
              </a:rPr>
              <a:t>Per-Unit royalties or long-term technology licensing deals with upfront payment structures. </a:t>
            </a:r>
            <a:endParaRPr lang="en-US"/>
          </a:p>
          <a:p>
            <a:pPr algn="ctr"/>
            <a:endParaRPr lang="en-US" sz="1200">
              <a:solidFill>
                <a:srgbClr val="151515"/>
              </a:solidFill>
              <a:latin typeface="Garamond"/>
            </a:endParaRPr>
          </a:p>
          <a:p>
            <a:pPr algn="ctr"/>
            <a:r>
              <a:rPr lang="en-US" sz="1200" b="1">
                <a:solidFill>
                  <a:srgbClr val="151515"/>
                </a:solidFill>
                <a:latin typeface="Garamond"/>
              </a:rPr>
              <a:t>Quantity Component: </a:t>
            </a:r>
            <a:endParaRPr lang="en-US"/>
          </a:p>
          <a:p>
            <a:pPr algn="ctr"/>
            <a:r>
              <a:rPr lang="en-US" sz="1200">
                <a:solidFill>
                  <a:srgbClr val="151515"/>
                </a:solidFill>
                <a:latin typeface="Garamond"/>
              </a:rPr>
              <a:t>Number of procedures/drugs sold, or number of licensing partnerships</a:t>
            </a:r>
            <a:endParaRPr lang="en-US"/>
          </a:p>
        </p:txBody>
      </p:sp>
      <p:sp>
        <p:nvSpPr>
          <p:cNvPr id="78" name="Google Shape;78;p5"/>
          <p:cNvSpPr/>
          <p:nvPr/>
        </p:nvSpPr>
        <p:spPr>
          <a:xfrm>
            <a:off x="3371834" y="2724080"/>
            <a:ext cx="2442490" cy="3612763"/>
          </a:xfrm>
          <a:prstGeom prst="rect">
            <a:avLst/>
          </a:prstGeom>
          <a:solidFill>
            <a:srgbClr val="F2F2F2"/>
          </a:solidFill>
          <a:ln>
            <a:noFill/>
          </a:ln>
        </p:spPr>
        <p:txBody>
          <a:bodyPr spcFirstLastPara="1" wrap="square" lIns="91425" tIns="45700" rIns="91425" bIns="45700" anchor="ctr" anchorCtr="0">
            <a:noAutofit/>
          </a:bodyPr>
          <a:lstStyle/>
          <a:p>
            <a:pPr algn="ctr"/>
            <a:r>
              <a:rPr lang="en-US" sz="1200" b="1">
                <a:solidFill>
                  <a:srgbClr val="151515"/>
                </a:solidFill>
                <a:latin typeface="Garamond"/>
                <a:sym typeface="Garamond"/>
              </a:rPr>
              <a:t>Overview/Financial Profile:,</a:t>
            </a:r>
            <a:endParaRPr lang="en-US" sz="1200">
              <a:solidFill>
                <a:srgbClr val="505050"/>
              </a:solidFill>
              <a:latin typeface="Garamond"/>
            </a:endParaRPr>
          </a:p>
          <a:p>
            <a:pPr algn="ctr"/>
            <a:r>
              <a:rPr lang="en-US" sz="1200">
                <a:solidFill>
                  <a:srgbClr val="151515"/>
                </a:solidFill>
                <a:latin typeface="Garamond"/>
              </a:rPr>
              <a:t>Also heavy R&amp;D investment. Lots of M&amp;A. Serve as the end of the supply chain, developing treatments using acquired or licensed research/technology (from companies like CRISPR). Steady revenue from large-scale commercialized medicine as well. </a:t>
            </a:r>
          </a:p>
          <a:p>
            <a:pPr algn="ctr"/>
            <a:endParaRPr lang="en-US" sz="1200">
              <a:solidFill>
                <a:srgbClr val="505050"/>
              </a:solidFill>
              <a:latin typeface="Garamond"/>
            </a:endParaRPr>
          </a:p>
          <a:p>
            <a:pPr algn="ctr"/>
            <a:r>
              <a:rPr lang="en-US" sz="1200" b="1">
                <a:solidFill>
                  <a:srgbClr val="151515"/>
                </a:solidFill>
                <a:latin typeface="Garamond"/>
              </a:rPr>
              <a:t>Price Component: </a:t>
            </a:r>
            <a:endParaRPr lang="en-US" sz="1200" b="1">
              <a:solidFill>
                <a:srgbClr val="505050"/>
              </a:solidFill>
              <a:latin typeface="Garamond"/>
            </a:endParaRPr>
          </a:p>
          <a:p>
            <a:pPr algn="ctr"/>
            <a:r>
              <a:rPr lang="en-US" sz="1200">
                <a:solidFill>
                  <a:srgbClr val="151515"/>
                </a:solidFill>
                <a:latin typeface="Garamond"/>
              </a:rPr>
              <a:t>Price of Each Treatment/Drug. Negotiated with governments and insurers</a:t>
            </a:r>
          </a:p>
          <a:p>
            <a:pPr algn="ctr"/>
            <a:endParaRPr lang="en-US" sz="1200">
              <a:solidFill>
                <a:srgbClr val="505050"/>
              </a:solidFill>
              <a:latin typeface="Garamond"/>
            </a:endParaRPr>
          </a:p>
          <a:p>
            <a:pPr algn="ctr"/>
            <a:r>
              <a:rPr lang="en-US" sz="1200" b="1">
                <a:solidFill>
                  <a:srgbClr val="151515"/>
                </a:solidFill>
                <a:latin typeface="Garamond"/>
              </a:rPr>
              <a:t>Quantity Component: </a:t>
            </a:r>
            <a:endParaRPr lang="en-US" sz="1200" b="1">
              <a:solidFill>
                <a:srgbClr val="505050"/>
              </a:solidFill>
              <a:latin typeface="Garamond"/>
            </a:endParaRPr>
          </a:p>
          <a:p>
            <a:pPr algn="ctr"/>
            <a:r>
              <a:rPr lang="en-US" sz="1200">
                <a:solidFill>
                  <a:srgbClr val="151515"/>
                </a:solidFill>
                <a:latin typeface="Garamond"/>
              </a:rPr>
              <a:t>Number of procedures/drugs sold, volume of patients/prescriptions</a:t>
            </a:r>
          </a:p>
        </p:txBody>
      </p:sp>
      <p:sp>
        <p:nvSpPr>
          <p:cNvPr id="79" name="Google Shape;79;p5"/>
          <p:cNvSpPr/>
          <p:nvPr/>
        </p:nvSpPr>
        <p:spPr>
          <a:xfrm>
            <a:off x="6165942" y="2724080"/>
            <a:ext cx="2414493" cy="3612763"/>
          </a:xfrm>
          <a:prstGeom prst="rect">
            <a:avLst/>
          </a:prstGeom>
          <a:solidFill>
            <a:srgbClr val="F2F2F2"/>
          </a:solidFill>
          <a:ln>
            <a:noFill/>
          </a:ln>
        </p:spPr>
        <p:txBody>
          <a:bodyPr spcFirstLastPara="1" wrap="square" lIns="91425" tIns="45700" rIns="91425" bIns="45700" anchor="ctr" anchorCtr="0">
            <a:noAutofit/>
          </a:bodyPr>
          <a:lstStyle/>
          <a:p>
            <a:pPr algn="ctr"/>
            <a:endParaRPr lang="en-US" sz="1200" b="1">
              <a:solidFill>
                <a:srgbClr val="151515"/>
              </a:solidFill>
              <a:latin typeface="Garamond"/>
            </a:endParaRPr>
          </a:p>
          <a:p>
            <a:pPr algn="ctr"/>
            <a:r>
              <a:rPr lang="en-US" sz="1200" b="1">
                <a:solidFill>
                  <a:srgbClr val="151515"/>
                </a:solidFill>
                <a:latin typeface="Garamond"/>
              </a:rPr>
              <a:t>Overview/Financial Profile:,</a:t>
            </a:r>
            <a:endParaRPr lang="en-US" sz="1200">
              <a:solidFill>
                <a:srgbClr val="505050"/>
              </a:solidFill>
              <a:latin typeface="Garamond"/>
            </a:endParaRPr>
          </a:p>
          <a:p>
            <a:pPr algn="ctr"/>
            <a:r>
              <a:rPr lang="en-US" sz="1200">
                <a:solidFill>
                  <a:srgbClr val="151515"/>
                </a:solidFill>
                <a:latin typeface="Garamond"/>
              </a:rPr>
              <a:t>Contract Development and Manufacturing Organizations (CDMOs) earn recurring revenue by developing methods to manufacture drugs and gene therapies and providing infra and tools for their biotech and pharma clients. High Fixed Costs.</a:t>
            </a:r>
          </a:p>
          <a:p>
            <a:pPr algn="ctr"/>
            <a:endParaRPr lang="en-US" sz="1200">
              <a:solidFill>
                <a:srgbClr val="151515"/>
              </a:solidFill>
              <a:latin typeface="Garamond"/>
              <a:sym typeface="Garamond"/>
            </a:endParaRPr>
          </a:p>
          <a:p>
            <a:pPr algn="ctr"/>
            <a:r>
              <a:rPr lang="en-US" sz="1200" b="1">
                <a:solidFill>
                  <a:srgbClr val="151515"/>
                </a:solidFill>
                <a:latin typeface="Garamond"/>
                <a:sym typeface="Garamond"/>
              </a:rPr>
              <a:t>Price Component: </a:t>
            </a:r>
            <a:endParaRPr lang="en-US" sz="1200" b="1">
              <a:solidFill>
                <a:srgbClr val="505050"/>
              </a:solidFill>
              <a:latin typeface="Garamond"/>
            </a:endParaRPr>
          </a:p>
          <a:p>
            <a:pPr algn="ctr"/>
            <a:r>
              <a:rPr lang="en-US" sz="1200">
                <a:solidFill>
                  <a:srgbClr val="151515"/>
                </a:solidFill>
                <a:latin typeface="Garamond"/>
              </a:rPr>
              <a:t>Per-contract fees for development, per-unit for manufacturing. </a:t>
            </a:r>
            <a:endParaRPr lang="en-US" sz="1200" b="1">
              <a:solidFill>
                <a:srgbClr val="505050"/>
              </a:solidFill>
              <a:latin typeface="Garamond"/>
              <a:sym typeface="Garamond"/>
            </a:endParaRPr>
          </a:p>
          <a:p>
            <a:pPr algn="ctr"/>
            <a:endParaRPr lang="en-US" sz="1200" b="1">
              <a:solidFill>
                <a:srgbClr val="151515"/>
              </a:solidFill>
              <a:latin typeface="Garamond"/>
              <a:sym typeface="Garamond"/>
            </a:endParaRPr>
          </a:p>
          <a:p>
            <a:pPr algn="ctr"/>
            <a:r>
              <a:rPr lang="en-US" sz="1200" b="1">
                <a:solidFill>
                  <a:srgbClr val="151515"/>
                </a:solidFill>
                <a:latin typeface="Garamond"/>
                <a:sym typeface="Garamond"/>
              </a:rPr>
              <a:t>Quantity Component: </a:t>
            </a:r>
            <a:endParaRPr lang="en-US" sz="1200" b="1">
              <a:solidFill>
                <a:srgbClr val="505050"/>
              </a:solidFill>
              <a:latin typeface="Garamond"/>
            </a:endParaRPr>
          </a:p>
          <a:p>
            <a:pPr algn="ctr"/>
            <a:r>
              <a:rPr lang="en-US" sz="1200">
                <a:solidFill>
                  <a:srgbClr val="151515"/>
                </a:solidFill>
                <a:latin typeface="Garamond"/>
                <a:sym typeface="Garamond"/>
              </a:rPr>
              <a:t>Quantity of units produced, or the number of development contracts signed. </a:t>
            </a:r>
            <a:endParaRPr lang="en-US"/>
          </a:p>
          <a:p>
            <a:pPr algn="ctr"/>
            <a:endParaRPr lang="en-US" sz="1200">
              <a:solidFill>
                <a:srgbClr val="505050"/>
              </a:solidFill>
              <a:latin typeface="Garamond"/>
            </a:endParaRPr>
          </a:p>
          <a:p>
            <a:pPr marL="0" marR="0" lvl="0" indent="0" algn="ctr">
              <a:lnSpc>
                <a:spcPct val="100000"/>
              </a:lnSpc>
              <a:spcBef>
                <a:spcPts val="0"/>
              </a:spcBef>
              <a:spcAft>
                <a:spcPts val="0"/>
              </a:spcAft>
              <a:buFont typeface="Arial"/>
              <a:buNone/>
            </a:pPr>
            <a:endParaRPr lang="en-US" sz="1200" b="0" i="0" u="none" strike="noStrike" cap="none">
              <a:solidFill>
                <a:srgbClr val="151515"/>
              </a:solidFill>
              <a:latin typeface="Garamond"/>
            </a:endParaRPr>
          </a:p>
        </p:txBody>
      </p:sp>
      <p:sp>
        <p:nvSpPr>
          <p:cNvPr id="82" name="Google Shape;82;p5"/>
          <p:cNvSpPr txBox="1"/>
          <p:nvPr/>
        </p:nvSpPr>
        <p:spPr>
          <a:xfrm>
            <a:off x="8086127" y="6544036"/>
            <a:ext cx="635449" cy="212366"/>
          </a:xfrm>
          <a:prstGeom prst="rect">
            <a:avLst/>
          </a:prstGeom>
          <a:noFill/>
          <a:ln>
            <a:noFill/>
          </a:ln>
        </p:spPr>
        <p:txBody>
          <a:bodyPr spcFirstLastPara="1" wrap="square" lIns="0" tIns="0" rIns="0" bIns="0" anchor="ctr" anchorCtr="0">
            <a:spAutoFit/>
          </a:bodyPr>
          <a:lstStyle/>
          <a:p>
            <a:pPr marL="38100" marR="0" lvl="0" indent="0" algn="r" rtl="0">
              <a:lnSpc>
                <a:spcPct val="114583"/>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Garamond"/>
                <a:ea typeface="Garamond"/>
                <a:cs typeface="Garamond"/>
                <a:sym typeface="Garamond"/>
              </a:rPr>
              <a:t>3</a:t>
            </a:fld>
            <a:endParaRPr sz="1200" b="0" i="0" u="none" strike="noStrike" cap="none">
              <a:solidFill>
                <a:srgbClr val="000000"/>
              </a:solidFill>
              <a:latin typeface="Garamond"/>
              <a:ea typeface="Garamond"/>
              <a:cs typeface="Garamond"/>
              <a:sym typeface="Garamond"/>
            </a:endParaRPr>
          </a:p>
        </p:txBody>
      </p:sp>
      <p:pic>
        <p:nvPicPr>
          <p:cNvPr id="2" name="Picture 1" descr="A logo for a company&#10;&#10;AI-generated content may be incorrect.">
            <a:extLst>
              <a:ext uri="{FF2B5EF4-FFF2-40B4-BE49-F238E27FC236}">
                <a16:creationId xmlns:a16="http://schemas.microsoft.com/office/drawing/2014/main" id="{BCBFAFC1-A8ED-E75A-DD4F-ED5EA6BD6342}"/>
              </a:ext>
            </a:extLst>
          </p:cNvPr>
          <p:cNvPicPr>
            <a:picLocks noChangeAspect="1"/>
          </p:cNvPicPr>
          <p:nvPr/>
        </p:nvPicPr>
        <p:blipFill>
          <a:blip r:embed="rId3"/>
          <a:srcRect t="-4948" r="3627" b="-5890"/>
          <a:stretch>
            <a:fillRect/>
          </a:stretch>
        </p:blipFill>
        <p:spPr>
          <a:xfrm>
            <a:off x="1544596" y="2047352"/>
            <a:ext cx="1117598" cy="631835"/>
          </a:xfrm>
          <a:prstGeom prst="rect">
            <a:avLst/>
          </a:prstGeom>
        </p:spPr>
      </p:pic>
      <p:pic>
        <p:nvPicPr>
          <p:cNvPr id="3" name="Picture 2" descr="A close-up of a logo&#10;&#10;AI-generated content may be incorrect.">
            <a:extLst>
              <a:ext uri="{FF2B5EF4-FFF2-40B4-BE49-F238E27FC236}">
                <a16:creationId xmlns:a16="http://schemas.microsoft.com/office/drawing/2014/main" id="{B2A3EB33-3AF4-6D27-8EB8-FF1DD1B10898}"/>
              </a:ext>
            </a:extLst>
          </p:cNvPr>
          <p:cNvPicPr>
            <a:picLocks noChangeAspect="1"/>
          </p:cNvPicPr>
          <p:nvPr/>
        </p:nvPicPr>
        <p:blipFill>
          <a:blip r:embed="rId4"/>
          <a:srcRect t="293" r="4094" b="-366"/>
          <a:stretch>
            <a:fillRect/>
          </a:stretch>
        </p:blipFill>
        <p:spPr>
          <a:xfrm>
            <a:off x="6450720" y="2016931"/>
            <a:ext cx="1122504" cy="682408"/>
          </a:xfrm>
          <a:prstGeom prst="rect">
            <a:avLst/>
          </a:prstGeom>
        </p:spPr>
      </p:pic>
      <p:pic>
        <p:nvPicPr>
          <p:cNvPr id="4" name="Picture 3" descr="A red text on a white background&#10;&#10;AI-generated content may be incorrect.">
            <a:extLst>
              <a:ext uri="{FF2B5EF4-FFF2-40B4-BE49-F238E27FC236}">
                <a16:creationId xmlns:a16="http://schemas.microsoft.com/office/drawing/2014/main" id="{873BC6CE-9BC0-E501-F64A-89CE7D75D853}"/>
              </a:ext>
            </a:extLst>
          </p:cNvPr>
          <p:cNvPicPr>
            <a:picLocks noChangeAspect="1"/>
          </p:cNvPicPr>
          <p:nvPr/>
        </p:nvPicPr>
        <p:blipFill>
          <a:blip r:embed="rId5"/>
          <a:srcRect t="-449" r="2222" b="1068"/>
          <a:stretch>
            <a:fillRect/>
          </a:stretch>
        </p:blipFill>
        <p:spPr>
          <a:xfrm>
            <a:off x="3373795" y="2046700"/>
            <a:ext cx="1314595" cy="693301"/>
          </a:xfrm>
          <a:prstGeom prst="rect">
            <a:avLst/>
          </a:prstGeom>
        </p:spPr>
      </p:pic>
      <p:pic>
        <p:nvPicPr>
          <p:cNvPr id="5" name="Picture 4" descr="A blue background with white text&#10;&#10;AI-generated content may be incorrect.">
            <a:extLst>
              <a:ext uri="{FF2B5EF4-FFF2-40B4-BE49-F238E27FC236}">
                <a16:creationId xmlns:a16="http://schemas.microsoft.com/office/drawing/2014/main" id="{AF8DCE6E-F4CF-700E-A4E2-111FF3B65608}"/>
              </a:ext>
            </a:extLst>
          </p:cNvPr>
          <p:cNvPicPr>
            <a:picLocks noChangeAspect="1"/>
          </p:cNvPicPr>
          <p:nvPr/>
        </p:nvPicPr>
        <p:blipFill>
          <a:blip r:embed="rId6"/>
          <a:stretch>
            <a:fillRect/>
          </a:stretch>
        </p:blipFill>
        <p:spPr>
          <a:xfrm>
            <a:off x="7867002" y="2000975"/>
            <a:ext cx="712879" cy="706895"/>
          </a:xfrm>
          <a:prstGeom prst="rect">
            <a:avLst/>
          </a:prstGeom>
        </p:spPr>
      </p:pic>
      <p:pic>
        <p:nvPicPr>
          <p:cNvPr id="6" name="Picture 5" descr="A black square with white text&#10;&#10;AI-generated content may be incorrect.">
            <a:extLst>
              <a:ext uri="{FF2B5EF4-FFF2-40B4-BE49-F238E27FC236}">
                <a16:creationId xmlns:a16="http://schemas.microsoft.com/office/drawing/2014/main" id="{595568A7-279D-DA9D-D573-F9AA0DFDF2FC}"/>
              </a:ext>
            </a:extLst>
          </p:cNvPr>
          <p:cNvPicPr>
            <a:picLocks noChangeAspect="1"/>
          </p:cNvPicPr>
          <p:nvPr/>
        </p:nvPicPr>
        <p:blipFill>
          <a:blip r:embed="rId7"/>
          <a:stretch>
            <a:fillRect/>
          </a:stretch>
        </p:blipFill>
        <p:spPr>
          <a:xfrm>
            <a:off x="0" y="1999830"/>
            <a:ext cx="1974818" cy="721947"/>
          </a:xfrm>
          <a:prstGeom prst="rect">
            <a:avLst/>
          </a:prstGeom>
        </p:spPr>
      </p:pic>
      <p:pic>
        <p:nvPicPr>
          <p:cNvPr id="8" name="Picture 7" descr="A logo on a white background&#10;&#10;AI-generated content may be incorrect.">
            <a:extLst>
              <a:ext uri="{FF2B5EF4-FFF2-40B4-BE49-F238E27FC236}">
                <a16:creationId xmlns:a16="http://schemas.microsoft.com/office/drawing/2014/main" id="{1DAC93A5-C883-856D-0523-D8E4A4789859}"/>
              </a:ext>
            </a:extLst>
          </p:cNvPr>
          <p:cNvPicPr>
            <a:picLocks noChangeAspect="1"/>
          </p:cNvPicPr>
          <p:nvPr/>
        </p:nvPicPr>
        <p:blipFill>
          <a:blip r:embed="rId8"/>
          <a:srcRect l="10577" t="23244" r="13461" b="16300"/>
          <a:stretch>
            <a:fillRect/>
          </a:stretch>
        </p:blipFill>
        <p:spPr>
          <a:xfrm>
            <a:off x="4815860" y="2027560"/>
            <a:ext cx="890942" cy="69297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7"/>
          <p:cNvSpPr/>
          <p:nvPr/>
        </p:nvSpPr>
        <p:spPr>
          <a:xfrm>
            <a:off x="453968" y="506499"/>
            <a:ext cx="8267608" cy="321600"/>
          </a:xfrm>
          <a:prstGeom prst="rect">
            <a:avLst/>
          </a:prstGeom>
          <a:noFill/>
          <a:ln>
            <a:noFill/>
          </a:ln>
        </p:spPr>
        <p:txBody>
          <a:bodyPr spcFirstLastPara="1" wrap="square" lIns="91425" tIns="91425" rIns="91425" bIns="91425" anchor="ctr" anchorCtr="0">
            <a:noAutofit/>
          </a:bodyPr>
          <a:lstStyle/>
          <a:p>
            <a:r>
              <a:rPr lang="en-US" sz="2500" b="1">
                <a:solidFill>
                  <a:srgbClr val="151515"/>
                </a:solidFill>
                <a:latin typeface="Garamond"/>
                <a:sym typeface="Garamond"/>
              </a:rPr>
              <a:t>Business Models Continued</a:t>
            </a:r>
            <a:endParaRPr lang="en-US"/>
          </a:p>
        </p:txBody>
      </p:sp>
      <p:sp>
        <p:nvSpPr>
          <p:cNvPr id="90" name="Google Shape;90;p7"/>
          <p:cNvSpPr/>
          <p:nvPr/>
        </p:nvSpPr>
        <p:spPr>
          <a:xfrm>
            <a:off x="822954" y="1995875"/>
            <a:ext cx="2271900" cy="4203219"/>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Garamond"/>
              <a:ea typeface="Garamond"/>
              <a:cs typeface="Garamond"/>
              <a:sym typeface="Garamond"/>
            </a:endParaRPr>
          </a:p>
        </p:txBody>
      </p:sp>
      <p:sp>
        <p:nvSpPr>
          <p:cNvPr id="91" name="Google Shape;91;p7"/>
          <p:cNvSpPr/>
          <p:nvPr/>
        </p:nvSpPr>
        <p:spPr>
          <a:xfrm>
            <a:off x="822958" y="1369153"/>
            <a:ext cx="2271900" cy="504000"/>
          </a:xfrm>
          <a:prstGeom prst="rect">
            <a:avLst/>
          </a:prstGeom>
          <a:solidFill>
            <a:srgbClr val="001F50"/>
          </a:solidFill>
          <a:ln>
            <a:noFill/>
          </a:ln>
        </p:spPr>
        <p:txBody>
          <a:bodyPr spcFirstLastPara="1" wrap="square" lIns="91425" tIns="91425" rIns="91425" bIns="91425" anchor="ctr" anchorCtr="0">
            <a:noAutofit/>
          </a:bodyPr>
          <a:lstStyle/>
          <a:p>
            <a:pPr algn="ctr"/>
            <a:r>
              <a:rPr lang="en-US" sz="1600" b="1">
                <a:solidFill>
                  <a:schemeClr val="lt1"/>
                </a:solidFill>
                <a:latin typeface="Garamond"/>
                <a:sym typeface="Garamond"/>
              </a:rPr>
              <a:t>Platform/Licensing</a:t>
            </a:r>
            <a:endParaRPr lang="en-US">
              <a:solidFill>
                <a:schemeClr val="lt1"/>
              </a:solidFill>
            </a:endParaRPr>
          </a:p>
        </p:txBody>
      </p:sp>
      <p:sp>
        <p:nvSpPr>
          <p:cNvPr id="92" name="Google Shape;92;p7"/>
          <p:cNvSpPr/>
          <p:nvPr/>
        </p:nvSpPr>
        <p:spPr>
          <a:xfrm>
            <a:off x="3429125" y="1369153"/>
            <a:ext cx="2271900" cy="504000"/>
          </a:xfrm>
          <a:prstGeom prst="rect">
            <a:avLst/>
          </a:prstGeom>
          <a:solidFill>
            <a:srgbClr val="4E6190"/>
          </a:solidFill>
          <a:ln>
            <a:noFill/>
          </a:ln>
        </p:spPr>
        <p:txBody>
          <a:bodyPr spcFirstLastPara="1" wrap="square" lIns="91425" tIns="91425" rIns="91425" bIns="91425" anchor="ctr" anchorCtr="0">
            <a:noAutofit/>
          </a:bodyPr>
          <a:lstStyle/>
          <a:p>
            <a:pPr algn="ctr"/>
            <a:r>
              <a:rPr lang="en-US" sz="1600" b="1">
                <a:solidFill>
                  <a:schemeClr val="lt1"/>
                </a:solidFill>
                <a:latin typeface="Garamond"/>
                <a:sym typeface="Garamond"/>
              </a:rPr>
              <a:t>Big Pharma</a:t>
            </a:r>
            <a:endParaRPr lang="en-US"/>
          </a:p>
        </p:txBody>
      </p:sp>
      <p:sp>
        <p:nvSpPr>
          <p:cNvPr id="93" name="Google Shape;93;p7"/>
          <p:cNvSpPr/>
          <p:nvPr/>
        </p:nvSpPr>
        <p:spPr>
          <a:xfrm>
            <a:off x="6035292" y="1369153"/>
            <a:ext cx="2271899" cy="504000"/>
          </a:xfrm>
          <a:prstGeom prst="rect">
            <a:avLst/>
          </a:prstGeom>
          <a:solidFill>
            <a:srgbClr val="98ADCF"/>
          </a:solidFill>
          <a:ln>
            <a:noFill/>
          </a:ln>
        </p:spPr>
        <p:txBody>
          <a:bodyPr spcFirstLastPara="1" wrap="square" lIns="91425" tIns="91425" rIns="91425" bIns="91425" anchor="ctr" anchorCtr="0">
            <a:noAutofit/>
          </a:bodyPr>
          <a:lstStyle/>
          <a:p>
            <a:pPr algn="ctr"/>
            <a:r>
              <a:rPr lang="en-US" sz="1600" b="1">
                <a:solidFill>
                  <a:schemeClr val="lt1"/>
                </a:solidFill>
                <a:latin typeface="Garamond"/>
                <a:sym typeface="Garamond"/>
              </a:rPr>
              <a:t>CDMO</a:t>
            </a:r>
            <a:endParaRPr lang="en-US"/>
          </a:p>
        </p:txBody>
      </p:sp>
      <p:sp>
        <p:nvSpPr>
          <p:cNvPr id="94" name="Google Shape;94;p7"/>
          <p:cNvSpPr/>
          <p:nvPr/>
        </p:nvSpPr>
        <p:spPr>
          <a:xfrm>
            <a:off x="925731" y="2181549"/>
            <a:ext cx="2066347" cy="833822"/>
          </a:xfrm>
          <a:prstGeom prst="rect">
            <a:avLst/>
          </a:prstGeom>
          <a:noFill/>
          <a:ln>
            <a:noFill/>
          </a:ln>
        </p:spPr>
        <p:txBody>
          <a:bodyPr spcFirstLastPara="1" wrap="square" lIns="91425" tIns="45700" rIns="91425" bIns="45700" anchor="ctr" anchorCtr="0">
            <a:noAutofit/>
          </a:bodyPr>
          <a:lstStyle/>
          <a:p>
            <a:pPr algn="ctr"/>
            <a:r>
              <a:rPr lang="en-US" sz="1200" b="1">
                <a:solidFill>
                  <a:srgbClr val="001F60"/>
                </a:solidFill>
                <a:latin typeface="Garamond"/>
                <a:sym typeface="Garamond"/>
              </a:rPr>
              <a:t>Primary Buyers: </a:t>
            </a:r>
            <a:r>
              <a:rPr lang="en-US" sz="1200">
                <a:solidFill>
                  <a:srgbClr val="001F60"/>
                </a:solidFill>
                <a:latin typeface="Garamond"/>
                <a:sym typeface="Garamond"/>
              </a:rPr>
              <a:t>Large pharma companies and established biotech firms that either license their technology or co-develop programs.</a:t>
            </a:r>
            <a:endParaRPr lang="en-US" sz="1200">
              <a:solidFill>
                <a:srgbClr val="001F60"/>
              </a:solidFill>
              <a:latin typeface="Garamond"/>
            </a:endParaRPr>
          </a:p>
        </p:txBody>
      </p:sp>
      <p:sp>
        <p:nvSpPr>
          <p:cNvPr id="95" name="Google Shape;95;p7"/>
          <p:cNvSpPr/>
          <p:nvPr/>
        </p:nvSpPr>
        <p:spPr>
          <a:xfrm>
            <a:off x="925730" y="3833489"/>
            <a:ext cx="2066347" cy="305789"/>
          </a:xfrm>
          <a:prstGeom prst="rect">
            <a:avLst/>
          </a:prstGeom>
          <a:noFill/>
          <a:ln>
            <a:noFill/>
          </a:ln>
        </p:spPr>
        <p:txBody>
          <a:bodyPr spcFirstLastPara="1" wrap="square" lIns="91425" tIns="45700" rIns="91425" bIns="45700" anchor="ctr" anchorCtr="0">
            <a:noAutofit/>
          </a:bodyPr>
          <a:lstStyle/>
          <a:p>
            <a:pPr algn="ctr"/>
            <a:r>
              <a:rPr lang="en-US" sz="1200" b="1">
                <a:solidFill>
                  <a:srgbClr val="001F60"/>
                </a:solidFill>
                <a:latin typeface="Garamond"/>
                <a:sym typeface="Garamond"/>
              </a:rPr>
              <a:t>Power Balance:</a:t>
            </a:r>
            <a:r>
              <a:rPr lang="en-US" sz="1200">
                <a:solidFill>
                  <a:srgbClr val="001F60"/>
                </a:solidFill>
                <a:latin typeface="Garamond"/>
                <a:sym typeface="Garamond"/>
              </a:rPr>
              <a:t> When drugs/treatments are initially developed, all power lies with the CRISPR, Beam, etc. But as tech becomes increasingly commoditized, this shifts towards big pharma buyers </a:t>
            </a:r>
            <a:endParaRPr lang="en-US"/>
          </a:p>
        </p:txBody>
      </p:sp>
      <p:sp>
        <p:nvSpPr>
          <p:cNvPr id="100" name="Google Shape;100;p7"/>
          <p:cNvSpPr/>
          <p:nvPr/>
        </p:nvSpPr>
        <p:spPr>
          <a:xfrm>
            <a:off x="925731" y="5298802"/>
            <a:ext cx="2066347" cy="305789"/>
          </a:xfrm>
          <a:prstGeom prst="rect">
            <a:avLst/>
          </a:prstGeom>
          <a:noFill/>
          <a:ln>
            <a:noFill/>
          </a:ln>
        </p:spPr>
        <p:txBody>
          <a:bodyPr spcFirstLastPara="1" wrap="square" lIns="91425" tIns="45700" rIns="91425" bIns="45700" anchor="ctr" anchorCtr="0">
            <a:noAutofit/>
          </a:bodyPr>
          <a:lstStyle/>
          <a:p>
            <a:pPr algn="ctr"/>
            <a:r>
              <a:rPr lang="en-US" sz="1200" b="1">
                <a:solidFill>
                  <a:srgbClr val="001F60"/>
                </a:solidFill>
                <a:latin typeface="Garamond"/>
                <a:sym typeface="Garamond"/>
              </a:rPr>
              <a:t>Value Drivers</a:t>
            </a:r>
            <a:r>
              <a:rPr lang="en-US" sz="1200">
                <a:solidFill>
                  <a:srgbClr val="001F60"/>
                </a:solidFill>
                <a:latin typeface="Garamond"/>
                <a:sym typeface="Garamond"/>
              </a:rPr>
              <a:t>: IP strength/differentiation and quality/number of partnerships.</a:t>
            </a:r>
            <a:endParaRPr lang="en-US" sz="1200">
              <a:solidFill>
                <a:srgbClr val="001F60"/>
              </a:solidFill>
              <a:latin typeface="Garamond"/>
            </a:endParaRPr>
          </a:p>
        </p:txBody>
      </p:sp>
      <p:sp>
        <p:nvSpPr>
          <p:cNvPr id="106" name="Google Shape;106;p7"/>
          <p:cNvSpPr txBox="1"/>
          <p:nvPr/>
        </p:nvSpPr>
        <p:spPr>
          <a:xfrm>
            <a:off x="8086127" y="6544036"/>
            <a:ext cx="635449" cy="212366"/>
          </a:xfrm>
          <a:prstGeom prst="rect">
            <a:avLst/>
          </a:prstGeom>
          <a:noFill/>
          <a:ln>
            <a:noFill/>
          </a:ln>
        </p:spPr>
        <p:txBody>
          <a:bodyPr spcFirstLastPara="1" wrap="square" lIns="0" tIns="0" rIns="0" bIns="0" anchor="ctr" anchorCtr="0">
            <a:spAutoFit/>
          </a:bodyPr>
          <a:lstStyle/>
          <a:p>
            <a:pPr marL="38100" marR="0" lvl="0" indent="0" algn="r" rtl="0">
              <a:lnSpc>
                <a:spcPct val="114583"/>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Garamond"/>
                <a:ea typeface="Garamond"/>
                <a:cs typeface="Garamond"/>
                <a:sym typeface="Garamond"/>
              </a:rPr>
              <a:t>4</a:t>
            </a:fld>
            <a:endParaRPr sz="1200" b="0" i="0" u="none" strike="noStrike" cap="none">
              <a:solidFill>
                <a:srgbClr val="000000"/>
              </a:solidFill>
              <a:latin typeface="Garamond"/>
              <a:ea typeface="Garamond"/>
              <a:cs typeface="Garamond"/>
              <a:sym typeface="Garamond"/>
            </a:endParaRPr>
          </a:p>
        </p:txBody>
      </p:sp>
      <p:sp>
        <p:nvSpPr>
          <p:cNvPr id="6" name="Google Shape;90;p7">
            <a:extLst>
              <a:ext uri="{FF2B5EF4-FFF2-40B4-BE49-F238E27FC236}">
                <a16:creationId xmlns:a16="http://schemas.microsoft.com/office/drawing/2014/main" id="{66D1C61D-3F1B-13AE-B38C-90B55645D0B4}"/>
              </a:ext>
            </a:extLst>
          </p:cNvPr>
          <p:cNvSpPr/>
          <p:nvPr/>
        </p:nvSpPr>
        <p:spPr>
          <a:xfrm>
            <a:off x="3411607" y="1982996"/>
            <a:ext cx="2271900" cy="4203219"/>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Garamond"/>
              <a:ea typeface="Garamond"/>
              <a:cs typeface="Garamond"/>
              <a:sym typeface="Garamond"/>
            </a:endParaRPr>
          </a:p>
        </p:txBody>
      </p:sp>
      <p:sp>
        <p:nvSpPr>
          <p:cNvPr id="7" name="Google Shape;94;p7">
            <a:extLst>
              <a:ext uri="{FF2B5EF4-FFF2-40B4-BE49-F238E27FC236}">
                <a16:creationId xmlns:a16="http://schemas.microsoft.com/office/drawing/2014/main" id="{7B4F6783-FE8D-1CC0-FD62-5F3BC83C8544}"/>
              </a:ext>
            </a:extLst>
          </p:cNvPr>
          <p:cNvSpPr/>
          <p:nvPr/>
        </p:nvSpPr>
        <p:spPr>
          <a:xfrm>
            <a:off x="3514384" y="2168670"/>
            <a:ext cx="2066347" cy="833822"/>
          </a:xfrm>
          <a:prstGeom prst="rect">
            <a:avLst/>
          </a:prstGeom>
          <a:noFill/>
          <a:ln>
            <a:noFill/>
          </a:ln>
        </p:spPr>
        <p:txBody>
          <a:bodyPr spcFirstLastPara="1" wrap="square" lIns="91425" tIns="45700" rIns="91425" bIns="45700" anchor="ctr" anchorCtr="0">
            <a:noAutofit/>
          </a:bodyPr>
          <a:lstStyle/>
          <a:p>
            <a:pPr algn="ctr"/>
            <a:r>
              <a:rPr lang="en-US" sz="1200" b="1">
                <a:solidFill>
                  <a:srgbClr val="001F60"/>
                </a:solidFill>
                <a:latin typeface="Garamond"/>
                <a:sym typeface="Garamond"/>
              </a:rPr>
              <a:t>Primary Buyers:</a:t>
            </a:r>
            <a:r>
              <a:rPr lang="en-US" sz="1200">
                <a:solidFill>
                  <a:srgbClr val="001F60"/>
                </a:solidFill>
                <a:latin typeface="Garamond"/>
                <a:sym typeface="Garamond"/>
              </a:rPr>
              <a:t> Insurers, Governments, and Hospitals. Not often directly to consumers.</a:t>
            </a:r>
            <a:endParaRPr lang="en-US" sz="1200">
              <a:solidFill>
                <a:srgbClr val="001F60"/>
              </a:solidFill>
              <a:latin typeface="Garamond"/>
            </a:endParaRPr>
          </a:p>
        </p:txBody>
      </p:sp>
      <p:sp>
        <p:nvSpPr>
          <p:cNvPr id="8" name="Google Shape;95;p7">
            <a:extLst>
              <a:ext uri="{FF2B5EF4-FFF2-40B4-BE49-F238E27FC236}">
                <a16:creationId xmlns:a16="http://schemas.microsoft.com/office/drawing/2014/main" id="{009188C4-935D-E4FB-1704-17A198F49563}"/>
              </a:ext>
            </a:extLst>
          </p:cNvPr>
          <p:cNvSpPr/>
          <p:nvPr/>
        </p:nvSpPr>
        <p:spPr>
          <a:xfrm>
            <a:off x="3527262" y="3807731"/>
            <a:ext cx="2066347" cy="305789"/>
          </a:xfrm>
          <a:prstGeom prst="rect">
            <a:avLst/>
          </a:prstGeom>
          <a:noFill/>
          <a:ln>
            <a:noFill/>
          </a:ln>
        </p:spPr>
        <p:txBody>
          <a:bodyPr spcFirstLastPara="1" wrap="square" lIns="91425" tIns="45700" rIns="91425" bIns="45700" anchor="ctr" anchorCtr="0">
            <a:noAutofit/>
          </a:bodyPr>
          <a:lstStyle/>
          <a:p>
            <a:pPr algn="ctr"/>
            <a:r>
              <a:rPr lang="en-US" sz="1200" b="1">
                <a:solidFill>
                  <a:srgbClr val="001F60"/>
                </a:solidFill>
                <a:latin typeface="Garamond"/>
                <a:sym typeface="Garamond"/>
              </a:rPr>
              <a:t>Power Balance: </a:t>
            </a:r>
            <a:r>
              <a:rPr lang="en-US" sz="1200">
                <a:solidFill>
                  <a:srgbClr val="001F60"/>
                </a:solidFill>
                <a:latin typeface="Garamond"/>
                <a:sym typeface="Garamond"/>
              </a:rPr>
              <a:t>Usually skewed towards the payer (because they are large institutions like Hospitals/Insurers with high negotiation power)it, unless a new/groundbreaking technology with few alternatives.</a:t>
            </a:r>
            <a:endParaRPr lang="en-US" sz="1200">
              <a:solidFill>
                <a:srgbClr val="001F60"/>
              </a:solidFill>
              <a:latin typeface="Garamond"/>
            </a:endParaRPr>
          </a:p>
        </p:txBody>
      </p:sp>
      <p:sp>
        <p:nvSpPr>
          <p:cNvPr id="9" name="Google Shape;100;p7">
            <a:extLst>
              <a:ext uri="{FF2B5EF4-FFF2-40B4-BE49-F238E27FC236}">
                <a16:creationId xmlns:a16="http://schemas.microsoft.com/office/drawing/2014/main" id="{F6C5DEBF-34FB-2ECE-3CC5-3D0FEED68120}"/>
              </a:ext>
            </a:extLst>
          </p:cNvPr>
          <p:cNvSpPr/>
          <p:nvPr/>
        </p:nvSpPr>
        <p:spPr>
          <a:xfrm>
            <a:off x="3514384" y="5285923"/>
            <a:ext cx="2066347" cy="305789"/>
          </a:xfrm>
          <a:prstGeom prst="rect">
            <a:avLst/>
          </a:prstGeom>
          <a:noFill/>
          <a:ln>
            <a:noFill/>
          </a:ln>
        </p:spPr>
        <p:txBody>
          <a:bodyPr spcFirstLastPara="1" wrap="square" lIns="91425" tIns="45700" rIns="91425" bIns="45700" anchor="ctr" anchorCtr="0">
            <a:noAutofit/>
          </a:bodyPr>
          <a:lstStyle/>
          <a:p>
            <a:pPr algn="ctr"/>
            <a:r>
              <a:rPr lang="en-US" sz="1200" b="1">
                <a:solidFill>
                  <a:srgbClr val="001F60"/>
                </a:solidFill>
                <a:latin typeface="Garamond"/>
                <a:sym typeface="Garamond"/>
              </a:rPr>
              <a:t>Value Drivers</a:t>
            </a:r>
            <a:r>
              <a:rPr lang="en-US" sz="1200">
                <a:solidFill>
                  <a:srgbClr val="001F60"/>
                </a:solidFill>
                <a:latin typeface="Garamond"/>
                <a:sym typeface="Garamond"/>
              </a:rPr>
              <a:t>: Commercial reach, quality of partnerships with CDMOs and Licensers, and internal R&amp;D success</a:t>
            </a:r>
            <a:endParaRPr lang="en-US" sz="1200">
              <a:solidFill>
                <a:srgbClr val="001F60"/>
              </a:solidFill>
              <a:latin typeface="Garamond"/>
            </a:endParaRPr>
          </a:p>
        </p:txBody>
      </p:sp>
      <p:sp>
        <p:nvSpPr>
          <p:cNvPr id="10" name="Google Shape;90;p7">
            <a:extLst>
              <a:ext uri="{FF2B5EF4-FFF2-40B4-BE49-F238E27FC236}">
                <a16:creationId xmlns:a16="http://schemas.microsoft.com/office/drawing/2014/main" id="{ABC99044-A473-EDCF-5F67-81D43D21CABF}"/>
              </a:ext>
            </a:extLst>
          </p:cNvPr>
          <p:cNvSpPr/>
          <p:nvPr/>
        </p:nvSpPr>
        <p:spPr>
          <a:xfrm>
            <a:off x="6026018" y="1982995"/>
            <a:ext cx="2271900" cy="4203219"/>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Garamond"/>
              <a:ea typeface="Garamond"/>
              <a:cs typeface="Garamond"/>
              <a:sym typeface="Garamond"/>
            </a:endParaRPr>
          </a:p>
        </p:txBody>
      </p:sp>
      <p:sp>
        <p:nvSpPr>
          <p:cNvPr id="11" name="Google Shape;94;p7">
            <a:extLst>
              <a:ext uri="{FF2B5EF4-FFF2-40B4-BE49-F238E27FC236}">
                <a16:creationId xmlns:a16="http://schemas.microsoft.com/office/drawing/2014/main" id="{93EC3325-DC7D-A785-07F0-71B930B70144}"/>
              </a:ext>
            </a:extLst>
          </p:cNvPr>
          <p:cNvSpPr/>
          <p:nvPr/>
        </p:nvSpPr>
        <p:spPr>
          <a:xfrm>
            <a:off x="6128795" y="2168669"/>
            <a:ext cx="2066347" cy="833822"/>
          </a:xfrm>
          <a:prstGeom prst="rect">
            <a:avLst/>
          </a:prstGeom>
          <a:noFill/>
          <a:ln>
            <a:noFill/>
          </a:ln>
        </p:spPr>
        <p:txBody>
          <a:bodyPr spcFirstLastPara="1" wrap="square" lIns="91425" tIns="45700" rIns="91425" bIns="45700" anchor="ctr" anchorCtr="0">
            <a:noAutofit/>
          </a:bodyPr>
          <a:lstStyle/>
          <a:p>
            <a:pPr algn="ctr"/>
            <a:r>
              <a:rPr lang="en-US" sz="1200" b="1">
                <a:solidFill>
                  <a:srgbClr val="001F60"/>
                </a:solidFill>
                <a:latin typeface="Garamond"/>
                <a:sym typeface="Garamond"/>
              </a:rPr>
              <a:t>Primary Buyers: </a:t>
            </a:r>
            <a:r>
              <a:rPr lang="en-US" sz="1200">
                <a:solidFill>
                  <a:srgbClr val="001F60"/>
                </a:solidFill>
                <a:latin typeface="Garamond"/>
                <a:sym typeface="Garamond"/>
              </a:rPr>
              <a:t>Large pharma/biotech companies that outsource the manufacturing of products. </a:t>
            </a:r>
            <a:endParaRPr lang="en-US" sz="1200">
              <a:solidFill>
                <a:srgbClr val="001F60"/>
              </a:solidFill>
              <a:latin typeface="Garamond"/>
            </a:endParaRPr>
          </a:p>
        </p:txBody>
      </p:sp>
      <p:sp>
        <p:nvSpPr>
          <p:cNvPr id="12" name="Google Shape;95;p7">
            <a:extLst>
              <a:ext uri="{FF2B5EF4-FFF2-40B4-BE49-F238E27FC236}">
                <a16:creationId xmlns:a16="http://schemas.microsoft.com/office/drawing/2014/main" id="{B280EA22-3F07-0B15-2DDB-328DBB4FC975}"/>
              </a:ext>
            </a:extLst>
          </p:cNvPr>
          <p:cNvSpPr/>
          <p:nvPr/>
        </p:nvSpPr>
        <p:spPr>
          <a:xfrm>
            <a:off x="6128794" y="3820609"/>
            <a:ext cx="2066347" cy="305789"/>
          </a:xfrm>
          <a:prstGeom prst="rect">
            <a:avLst/>
          </a:prstGeom>
          <a:noFill/>
          <a:ln>
            <a:noFill/>
          </a:ln>
        </p:spPr>
        <p:txBody>
          <a:bodyPr spcFirstLastPara="1" wrap="square" lIns="91425" tIns="45700" rIns="91425" bIns="45700" anchor="ctr" anchorCtr="0">
            <a:noAutofit/>
          </a:bodyPr>
          <a:lstStyle/>
          <a:p>
            <a:pPr algn="ctr"/>
            <a:r>
              <a:rPr lang="en-US" sz="1200" b="1">
                <a:solidFill>
                  <a:srgbClr val="001F60"/>
                </a:solidFill>
                <a:latin typeface="Garamond"/>
                <a:sym typeface="Garamond"/>
              </a:rPr>
              <a:t>Power Balance:</a:t>
            </a:r>
            <a:r>
              <a:rPr lang="en-US" sz="1200">
                <a:solidFill>
                  <a:srgbClr val="001F60"/>
                </a:solidFill>
                <a:latin typeface="Garamond"/>
                <a:sym typeface="Garamond"/>
              </a:rPr>
              <a:t> Balanced. Large pharmaceuticals companies have pull due to scale dependency, but CDMOs often have exclusive access to proprietary manufacturing techniques and necessary PP&amp;E </a:t>
            </a:r>
            <a:endParaRPr lang="en-US"/>
          </a:p>
        </p:txBody>
      </p:sp>
      <p:sp>
        <p:nvSpPr>
          <p:cNvPr id="13" name="Google Shape;100;p7">
            <a:extLst>
              <a:ext uri="{FF2B5EF4-FFF2-40B4-BE49-F238E27FC236}">
                <a16:creationId xmlns:a16="http://schemas.microsoft.com/office/drawing/2014/main" id="{D321D37A-B2E7-DC21-5A7C-7D47FA621CAC}"/>
              </a:ext>
            </a:extLst>
          </p:cNvPr>
          <p:cNvSpPr/>
          <p:nvPr/>
        </p:nvSpPr>
        <p:spPr>
          <a:xfrm>
            <a:off x="6128795" y="5285922"/>
            <a:ext cx="2066347" cy="305789"/>
          </a:xfrm>
          <a:prstGeom prst="rect">
            <a:avLst/>
          </a:prstGeom>
          <a:noFill/>
          <a:ln>
            <a:noFill/>
          </a:ln>
        </p:spPr>
        <p:txBody>
          <a:bodyPr spcFirstLastPara="1" wrap="square" lIns="91425" tIns="45700" rIns="91425" bIns="45700" anchor="ctr" anchorCtr="0">
            <a:noAutofit/>
          </a:bodyPr>
          <a:lstStyle/>
          <a:p>
            <a:pPr algn="ctr"/>
            <a:r>
              <a:rPr lang="en-US" sz="1200" b="1">
                <a:solidFill>
                  <a:srgbClr val="001F60"/>
                </a:solidFill>
                <a:latin typeface="Garamond"/>
                <a:sym typeface="Garamond"/>
              </a:rPr>
              <a:t>Value Drivers</a:t>
            </a:r>
            <a:r>
              <a:rPr lang="en-US" sz="1200">
                <a:solidFill>
                  <a:srgbClr val="001F60"/>
                </a:solidFill>
                <a:latin typeface="Garamond"/>
                <a:sym typeface="Garamond"/>
              </a:rPr>
              <a:t>: Capacity utilization, long-term production contracts, technical know-how</a:t>
            </a:r>
            <a:endParaRPr lang="en-US" sz="1200">
              <a:solidFill>
                <a:srgbClr val="001F60"/>
              </a:solidFill>
              <a:latin typeface="Garamon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26">
          <a:extLst>
            <a:ext uri="{FF2B5EF4-FFF2-40B4-BE49-F238E27FC236}">
              <a16:creationId xmlns:a16="http://schemas.microsoft.com/office/drawing/2014/main" id="{74C1E0FA-EED5-22B4-0AC4-406FF3DA0F91}"/>
            </a:ext>
          </a:extLst>
        </p:cNvPr>
        <p:cNvGrpSpPr/>
        <p:nvPr/>
      </p:nvGrpSpPr>
      <p:grpSpPr>
        <a:xfrm>
          <a:off x="0" y="0"/>
          <a:ext cx="0" cy="0"/>
          <a:chOff x="0" y="0"/>
          <a:chExt cx="0" cy="0"/>
        </a:xfrm>
      </p:grpSpPr>
      <p:sp>
        <p:nvSpPr>
          <p:cNvPr id="331" name="Google Shape;331;p34">
            <a:extLst>
              <a:ext uri="{FF2B5EF4-FFF2-40B4-BE49-F238E27FC236}">
                <a16:creationId xmlns:a16="http://schemas.microsoft.com/office/drawing/2014/main" id="{0163A770-A4AF-0F0D-64CD-DB557B3AFBE3}"/>
              </a:ext>
            </a:extLst>
          </p:cNvPr>
          <p:cNvSpPr txBox="1"/>
          <p:nvPr/>
        </p:nvSpPr>
        <p:spPr>
          <a:xfrm>
            <a:off x="434650" y="1213328"/>
            <a:ext cx="8274048" cy="320492"/>
          </a:xfrm>
          <a:prstGeom prst="rect">
            <a:avLst/>
          </a:prstGeom>
          <a:solidFill>
            <a:srgbClr val="E6E6E6"/>
          </a:solidFill>
          <a:ln>
            <a:noFill/>
          </a:ln>
        </p:spPr>
        <p:txBody>
          <a:bodyPr spcFirstLastPara="1" wrap="square" lIns="0" tIns="45700" rIns="91425" bIns="45700" anchor="ctr" anchorCtr="0">
            <a:noAutofit/>
          </a:bodyPr>
          <a:lstStyle/>
          <a:p>
            <a:pPr algn="ctr"/>
            <a:r>
              <a:rPr lang="en-US">
                <a:latin typeface="Garamond"/>
                <a:sym typeface="Garamond"/>
              </a:rPr>
              <a:t>Headlined by High Upfront Costs for all business models: Labs/Licensing, Big Pharma, and CDMOs</a:t>
            </a:r>
            <a:endParaRPr lang="en-US"/>
          </a:p>
        </p:txBody>
      </p:sp>
      <p:sp>
        <p:nvSpPr>
          <p:cNvPr id="332" name="Google Shape;332;p34">
            <a:extLst>
              <a:ext uri="{FF2B5EF4-FFF2-40B4-BE49-F238E27FC236}">
                <a16:creationId xmlns:a16="http://schemas.microsoft.com/office/drawing/2014/main" id="{25BB33F6-6AD1-A32A-0259-4C217393D7B0}"/>
              </a:ext>
            </a:extLst>
          </p:cNvPr>
          <p:cNvSpPr/>
          <p:nvPr/>
        </p:nvSpPr>
        <p:spPr>
          <a:xfrm>
            <a:off x="462174" y="1903303"/>
            <a:ext cx="3116687" cy="740780"/>
          </a:xfrm>
          <a:prstGeom prst="rect">
            <a:avLst/>
          </a:prstGeom>
          <a:solidFill>
            <a:srgbClr val="001F50"/>
          </a:solidFill>
          <a:ln>
            <a:noFill/>
          </a:ln>
        </p:spPr>
        <p:txBody>
          <a:bodyPr spcFirstLastPara="1" wrap="square" lIns="91425" tIns="45700" rIns="91425" bIns="45700" anchor="ctr" anchorCtr="0">
            <a:noAutofit/>
          </a:bodyPr>
          <a:lstStyle/>
          <a:p>
            <a:pPr marL="0" marR="0" lvl="0" indent="0" algn="ctr">
              <a:lnSpc>
                <a:spcPct val="100000"/>
              </a:lnSpc>
              <a:spcBef>
                <a:spcPts val="0"/>
              </a:spcBef>
              <a:spcAft>
                <a:spcPts val="0"/>
              </a:spcAft>
              <a:buNone/>
            </a:pPr>
            <a:r>
              <a:rPr lang="en-US" sz="1600">
                <a:solidFill>
                  <a:schemeClr val="lt1"/>
                </a:solidFill>
                <a:latin typeface="Garamond"/>
                <a:sym typeface="Garamond"/>
              </a:rPr>
              <a:t>COGS</a:t>
            </a:r>
            <a:endParaRPr lang="en-US"/>
          </a:p>
        </p:txBody>
      </p:sp>
      <p:sp>
        <p:nvSpPr>
          <p:cNvPr id="333" name="Google Shape;333;p34">
            <a:extLst>
              <a:ext uri="{FF2B5EF4-FFF2-40B4-BE49-F238E27FC236}">
                <a16:creationId xmlns:a16="http://schemas.microsoft.com/office/drawing/2014/main" id="{17C379ED-DC32-F2BD-29DF-C8E709E5770D}"/>
              </a:ext>
            </a:extLst>
          </p:cNvPr>
          <p:cNvSpPr/>
          <p:nvPr/>
        </p:nvSpPr>
        <p:spPr>
          <a:xfrm>
            <a:off x="462174" y="2854356"/>
            <a:ext cx="3116687" cy="740780"/>
          </a:xfrm>
          <a:prstGeom prst="rect">
            <a:avLst/>
          </a:prstGeom>
          <a:solidFill>
            <a:srgbClr val="001F50"/>
          </a:solidFill>
          <a:ln>
            <a:noFill/>
          </a:ln>
        </p:spPr>
        <p:txBody>
          <a:bodyPr spcFirstLastPara="1" wrap="square" lIns="91425" tIns="45700" rIns="91425" bIns="45700" anchor="ctr" anchorCtr="0">
            <a:noAutofit/>
          </a:bodyPr>
          <a:lstStyle/>
          <a:p>
            <a:pPr algn="ctr"/>
            <a:r>
              <a:rPr lang="en-US" sz="1600">
                <a:solidFill>
                  <a:schemeClr val="lt1"/>
                </a:solidFill>
                <a:latin typeface="Garamond"/>
              </a:rPr>
              <a:t>Operating Expenses/Overhead/R&amp;D</a:t>
            </a:r>
          </a:p>
        </p:txBody>
      </p:sp>
      <p:sp>
        <p:nvSpPr>
          <p:cNvPr id="334" name="Google Shape;334;p34">
            <a:extLst>
              <a:ext uri="{FF2B5EF4-FFF2-40B4-BE49-F238E27FC236}">
                <a16:creationId xmlns:a16="http://schemas.microsoft.com/office/drawing/2014/main" id="{6655E722-E0F0-8420-3F04-756E3961399E}"/>
              </a:ext>
            </a:extLst>
          </p:cNvPr>
          <p:cNvSpPr/>
          <p:nvPr/>
        </p:nvSpPr>
        <p:spPr>
          <a:xfrm>
            <a:off x="462174" y="3805409"/>
            <a:ext cx="3116687" cy="740780"/>
          </a:xfrm>
          <a:prstGeom prst="rect">
            <a:avLst/>
          </a:prstGeom>
          <a:solidFill>
            <a:schemeClr val="accent6"/>
          </a:solidFill>
          <a:ln>
            <a:noFill/>
          </a:ln>
        </p:spPr>
        <p:txBody>
          <a:bodyPr spcFirstLastPara="1" wrap="square" lIns="91425" tIns="45700" rIns="91425" bIns="45700" anchor="ctr" anchorCtr="0">
            <a:noAutofit/>
          </a:bodyPr>
          <a:lstStyle/>
          <a:p>
            <a:pPr algn="ctr"/>
            <a:r>
              <a:rPr lang="en-US" sz="1600">
                <a:solidFill>
                  <a:srgbClr val="151515"/>
                </a:solidFill>
                <a:latin typeface="Garamond"/>
                <a:sym typeface="Garamond"/>
              </a:rPr>
              <a:t>Operating Margins</a:t>
            </a:r>
            <a:endParaRPr lang="en-US"/>
          </a:p>
        </p:txBody>
      </p:sp>
      <p:sp>
        <p:nvSpPr>
          <p:cNvPr id="335" name="Google Shape;335;p34">
            <a:extLst>
              <a:ext uri="{FF2B5EF4-FFF2-40B4-BE49-F238E27FC236}">
                <a16:creationId xmlns:a16="http://schemas.microsoft.com/office/drawing/2014/main" id="{95A1CA6D-3F55-3867-37F6-ED4887213021}"/>
              </a:ext>
            </a:extLst>
          </p:cNvPr>
          <p:cNvSpPr/>
          <p:nvPr/>
        </p:nvSpPr>
        <p:spPr>
          <a:xfrm>
            <a:off x="462174" y="4756462"/>
            <a:ext cx="3116687" cy="740780"/>
          </a:xfrm>
          <a:prstGeom prst="rect">
            <a:avLst/>
          </a:prstGeom>
          <a:solidFill>
            <a:schemeClr val="accent6"/>
          </a:solidFill>
          <a:ln>
            <a:noFill/>
          </a:ln>
        </p:spPr>
        <p:txBody>
          <a:bodyPr spcFirstLastPara="1" wrap="square" lIns="91425" tIns="45700" rIns="91425" bIns="45700" anchor="ctr" anchorCtr="0">
            <a:noAutofit/>
          </a:bodyPr>
          <a:lstStyle/>
          <a:p>
            <a:pPr algn="ctr"/>
            <a:r>
              <a:rPr lang="en-US" sz="1600">
                <a:solidFill>
                  <a:srgbClr val="151515"/>
                </a:solidFill>
                <a:latin typeface="Garamond"/>
                <a:sym typeface="Garamond"/>
              </a:rPr>
              <a:t>Common Valuation Metrics</a:t>
            </a:r>
            <a:endParaRPr lang="en-US"/>
          </a:p>
        </p:txBody>
      </p:sp>
      <p:sp>
        <p:nvSpPr>
          <p:cNvPr id="336" name="Google Shape;336;p34">
            <a:extLst>
              <a:ext uri="{FF2B5EF4-FFF2-40B4-BE49-F238E27FC236}">
                <a16:creationId xmlns:a16="http://schemas.microsoft.com/office/drawing/2014/main" id="{1DC79107-408D-01AA-941C-9B95DF308E4E}"/>
              </a:ext>
            </a:extLst>
          </p:cNvPr>
          <p:cNvSpPr/>
          <p:nvPr/>
        </p:nvSpPr>
        <p:spPr>
          <a:xfrm rot="5400000">
            <a:off x="3415424" y="2063957"/>
            <a:ext cx="735871" cy="424382"/>
          </a:xfrm>
          <a:prstGeom prst="triangle">
            <a:avLst>
              <a:gd name="adj" fmla="val 53146"/>
            </a:avLst>
          </a:prstGeom>
          <a:solidFill>
            <a:srgbClr val="001F5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37" name="Google Shape;337;p34">
            <a:extLst>
              <a:ext uri="{FF2B5EF4-FFF2-40B4-BE49-F238E27FC236}">
                <a16:creationId xmlns:a16="http://schemas.microsoft.com/office/drawing/2014/main" id="{0F51852D-E2DA-3511-ECAF-9F49FBAE7E59}"/>
              </a:ext>
            </a:extLst>
          </p:cNvPr>
          <p:cNvSpPr/>
          <p:nvPr/>
        </p:nvSpPr>
        <p:spPr>
          <a:xfrm rot="5400000">
            <a:off x="3414148" y="3006881"/>
            <a:ext cx="735871" cy="430822"/>
          </a:xfrm>
          <a:prstGeom prst="triangle">
            <a:avLst>
              <a:gd name="adj" fmla="val 53146"/>
            </a:avLst>
          </a:prstGeom>
          <a:solidFill>
            <a:srgbClr val="001F5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38" name="Google Shape;338;p34">
            <a:extLst>
              <a:ext uri="{FF2B5EF4-FFF2-40B4-BE49-F238E27FC236}">
                <a16:creationId xmlns:a16="http://schemas.microsoft.com/office/drawing/2014/main" id="{031AF838-6A60-71F1-6215-6FCB1DB17FCD}"/>
              </a:ext>
            </a:extLst>
          </p:cNvPr>
          <p:cNvSpPr/>
          <p:nvPr/>
        </p:nvSpPr>
        <p:spPr>
          <a:xfrm rot="5400000">
            <a:off x="3415424" y="3956245"/>
            <a:ext cx="735871" cy="424382"/>
          </a:xfrm>
          <a:prstGeom prst="triangle">
            <a:avLst>
              <a:gd name="adj" fmla="val 53146"/>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51515"/>
              </a:solidFill>
              <a:latin typeface="Arial"/>
              <a:ea typeface="Arial"/>
              <a:cs typeface="Arial"/>
              <a:sym typeface="Arial"/>
            </a:endParaRPr>
          </a:p>
        </p:txBody>
      </p:sp>
      <p:sp>
        <p:nvSpPr>
          <p:cNvPr id="339" name="Google Shape;339;p34">
            <a:extLst>
              <a:ext uri="{FF2B5EF4-FFF2-40B4-BE49-F238E27FC236}">
                <a16:creationId xmlns:a16="http://schemas.microsoft.com/office/drawing/2014/main" id="{C5711712-65B6-A7E4-6CB9-BD6793EB915F}"/>
              </a:ext>
            </a:extLst>
          </p:cNvPr>
          <p:cNvSpPr/>
          <p:nvPr/>
        </p:nvSpPr>
        <p:spPr>
          <a:xfrm rot="5400000">
            <a:off x="3415423" y="4917116"/>
            <a:ext cx="735871" cy="424382"/>
          </a:xfrm>
          <a:prstGeom prst="triangle">
            <a:avLst>
              <a:gd name="adj" fmla="val 53146"/>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51515"/>
              </a:solidFill>
              <a:latin typeface="Arial"/>
              <a:ea typeface="Arial"/>
              <a:cs typeface="Arial"/>
              <a:sym typeface="Arial"/>
            </a:endParaRPr>
          </a:p>
        </p:txBody>
      </p:sp>
      <p:sp>
        <p:nvSpPr>
          <p:cNvPr id="340" name="Google Shape;340;p34">
            <a:extLst>
              <a:ext uri="{FF2B5EF4-FFF2-40B4-BE49-F238E27FC236}">
                <a16:creationId xmlns:a16="http://schemas.microsoft.com/office/drawing/2014/main" id="{F84F59E0-8811-A079-0E8C-24BD7524C009}"/>
              </a:ext>
            </a:extLst>
          </p:cNvPr>
          <p:cNvSpPr/>
          <p:nvPr/>
        </p:nvSpPr>
        <p:spPr>
          <a:xfrm>
            <a:off x="4159713" y="1890424"/>
            <a:ext cx="4533362" cy="740780"/>
          </a:xfrm>
          <a:prstGeom prst="rect">
            <a:avLst/>
          </a:prstGeom>
          <a:noFill/>
          <a:ln w="9525"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algn="ctr"/>
            <a:r>
              <a:rPr lang="en-US" sz="1600">
                <a:solidFill>
                  <a:srgbClr val="151515"/>
                </a:solidFill>
                <a:latin typeface="Garamond"/>
                <a:sym typeface="Garamond"/>
              </a:rPr>
              <a:t>Manufacturing costs - viral vectors, lab materials, quality testing, packaging, cold-storage, shipping etc. CDMO manufacturing fees if outsourced.</a:t>
            </a:r>
            <a:endParaRPr lang="en-US"/>
          </a:p>
        </p:txBody>
      </p:sp>
      <p:sp>
        <p:nvSpPr>
          <p:cNvPr id="341" name="Google Shape;341;p34">
            <a:extLst>
              <a:ext uri="{FF2B5EF4-FFF2-40B4-BE49-F238E27FC236}">
                <a16:creationId xmlns:a16="http://schemas.microsoft.com/office/drawing/2014/main" id="{76EF314C-00F2-34EC-90D6-8BE9AC767372}"/>
              </a:ext>
            </a:extLst>
          </p:cNvPr>
          <p:cNvSpPr/>
          <p:nvPr/>
        </p:nvSpPr>
        <p:spPr>
          <a:xfrm>
            <a:off x="4159713" y="2841477"/>
            <a:ext cx="4533362" cy="740780"/>
          </a:xfrm>
          <a:prstGeom prst="rect">
            <a:avLst/>
          </a:prstGeom>
          <a:noFill/>
          <a:ln w="9525"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algn="ctr"/>
            <a:r>
              <a:rPr lang="en-US" sz="1600">
                <a:solidFill>
                  <a:srgbClr val="151515"/>
                </a:solidFill>
                <a:latin typeface="Garamond"/>
                <a:sym typeface="Garamond"/>
              </a:rPr>
              <a:t>Very high </a:t>
            </a:r>
            <a:r>
              <a:rPr lang="en-US" sz="1600" err="1">
                <a:solidFill>
                  <a:srgbClr val="151515"/>
                </a:solidFill>
                <a:latin typeface="Garamond"/>
                <a:sym typeface="Garamond"/>
              </a:rPr>
              <a:t>CapEx</a:t>
            </a:r>
            <a:r>
              <a:rPr lang="en-US" sz="1600">
                <a:solidFill>
                  <a:srgbClr val="151515"/>
                </a:solidFill>
                <a:latin typeface="Garamond"/>
                <a:sym typeface="Garamond"/>
              </a:rPr>
              <a:t> (especially for CDMOs and non-outsourcing big pharma). High R&amp;D costs (heavily outweigh COGS). Low sales and marketing costs</a:t>
            </a:r>
            <a:endParaRPr lang="en-US" sz="1600">
              <a:solidFill>
                <a:srgbClr val="151515"/>
              </a:solidFill>
              <a:latin typeface="Garamond"/>
            </a:endParaRPr>
          </a:p>
        </p:txBody>
      </p:sp>
      <p:sp>
        <p:nvSpPr>
          <p:cNvPr id="342" name="Google Shape;342;p34">
            <a:extLst>
              <a:ext uri="{FF2B5EF4-FFF2-40B4-BE49-F238E27FC236}">
                <a16:creationId xmlns:a16="http://schemas.microsoft.com/office/drawing/2014/main" id="{49F5F9CC-6F8A-4DD4-FF8E-E7E6D0ADE361}"/>
              </a:ext>
            </a:extLst>
          </p:cNvPr>
          <p:cNvSpPr/>
          <p:nvPr/>
        </p:nvSpPr>
        <p:spPr>
          <a:xfrm>
            <a:off x="4159713" y="3792530"/>
            <a:ext cx="4533362" cy="740780"/>
          </a:xfrm>
          <a:prstGeom prst="rect">
            <a:avLst/>
          </a:prstGeom>
          <a:noFill/>
          <a:ln w="9525"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algn="ctr"/>
            <a:r>
              <a:rPr lang="en-US" sz="1600">
                <a:solidFill>
                  <a:srgbClr val="151515"/>
                </a:solidFill>
                <a:latin typeface="Garamond"/>
                <a:sym typeface="Garamond"/>
              </a:rPr>
              <a:t>Negative during development periods without huge individual successes. Strongly positive if successful therapies are on the market</a:t>
            </a:r>
            <a:endParaRPr lang="en-US"/>
          </a:p>
        </p:txBody>
      </p:sp>
      <p:sp>
        <p:nvSpPr>
          <p:cNvPr id="343" name="Google Shape;343;p34">
            <a:extLst>
              <a:ext uri="{FF2B5EF4-FFF2-40B4-BE49-F238E27FC236}">
                <a16:creationId xmlns:a16="http://schemas.microsoft.com/office/drawing/2014/main" id="{619BFDF4-4131-260C-856E-B4BF4152101E}"/>
              </a:ext>
            </a:extLst>
          </p:cNvPr>
          <p:cNvSpPr/>
          <p:nvPr/>
        </p:nvSpPr>
        <p:spPr>
          <a:xfrm>
            <a:off x="4159713" y="4653431"/>
            <a:ext cx="4533362" cy="856690"/>
          </a:xfrm>
          <a:prstGeom prst="rect">
            <a:avLst/>
          </a:prstGeom>
          <a:noFill/>
          <a:ln w="9525"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algn="ctr"/>
            <a:r>
              <a:rPr lang="en-US" sz="1600">
                <a:solidFill>
                  <a:srgbClr val="151515"/>
                </a:solidFill>
                <a:latin typeface="Garamond"/>
                <a:sym typeface="Garamond"/>
              </a:rPr>
              <a:t>Pre-revenue/clinical stage: risk-adjusted NPV</a:t>
            </a:r>
            <a:endParaRPr lang="en-US" sz="1600" err="1">
              <a:solidFill>
                <a:srgbClr val="151515"/>
              </a:solidFill>
              <a:latin typeface="Garamond"/>
            </a:endParaRPr>
          </a:p>
          <a:p>
            <a:pPr algn="ctr"/>
            <a:r>
              <a:rPr lang="en-US" sz="1600">
                <a:solidFill>
                  <a:srgbClr val="151515"/>
                </a:solidFill>
                <a:latin typeface="Garamond"/>
              </a:rPr>
              <a:t>Commercial-stage: EV/Revenue in growth stage, EV/EBITDA if profitable.</a:t>
            </a:r>
          </a:p>
        </p:txBody>
      </p:sp>
      <p:sp>
        <p:nvSpPr>
          <p:cNvPr id="3" name="Google Shape;87;p7">
            <a:extLst>
              <a:ext uri="{FF2B5EF4-FFF2-40B4-BE49-F238E27FC236}">
                <a16:creationId xmlns:a16="http://schemas.microsoft.com/office/drawing/2014/main" id="{4874D8B7-BD9F-1101-8D92-E59247D82B25}"/>
              </a:ext>
            </a:extLst>
          </p:cNvPr>
          <p:cNvSpPr/>
          <p:nvPr/>
        </p:nvSpPr>
        <p:spPr>
          <a:xfrm>
            <a:off x="453968" y="506499"/>
            <a:ext cx="8267608" cy="321600"/>
          </a:xfrm>
          <a:prstGeom prst="rect">
            <a:avLst/>
          </a:prstGeom>
          <a:noFill/>
          <a:ln>
            <a:noFill/>
          </a:ln>
        </p:spPr>
        <p:txBody>
          <a:bodyPr spcFirstLastPara="1" wrap="square" lIns="91425" tIns="91425" rIns="91425" bIns="91425" anchor="ctr" anchorCtr="0">
            <a:noAutofit/>
          </a:bodyPr>
          <a:lstStyle/>
          <a:p>
            <a:r>
              <a:rPr lang="en-US" sz="2500" b="1">
                <a:solidFill>
                  <a:srgbClr val="151515"/>
                </a:solidFill>
                <a:latin typeface="Garamond"/>
                <a:sym typeface="Garamond"/>
              </a:rPr>
              <a:t>Unit Economics</a:t>
            </a:r>
            <a:endParaRPr lang="en-US"/>
          </a:p>
        </p:txBody>
      </p:sp>
    </p:spTree>
    <p:extLst>
      <p:ext uri="{BB962C8B-B14F-4D97-AF65-F5344CB8AC3E}">
        <p14:creationId xmlns:p14="http://schemas.microsoft.com/office/powerpoint/2010/main" val="10219550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29"/>
          <p:cNvSpPr/>
          <p:nvPr/>
        </p:nvSpPr>
        <p:spPr>
          <a:xfrm>
            <a:off x="453968" y="3253307"/>
            <a:ext cx="2621666" cy="953563"/>
          </a:xfrm>
          <a:prstGeom prst="rect">
            <a:avLst/>
          </a:prstGeom>
          <a:solidFill>
            <a:srgbClr val="4E619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a:solidFill>
                  <a:schemeClr val="lt1"/>
                </a:solidFill>
                <a:latin typeface="Garamond"/>
                <a:sym typeface="Garamond"/>
              </a:rPr>
              <a:t>Regulatory Flexibility</a:t>
            </a:r>
            <a:endParaRPr sz="1800" b="0" i="0" u="none" strike="noStrike" cap="none">
              <a:solidFill>
                <a:srgbClr val="000000"/>
              </a:solidFill>
              <a:latin typeface="Arial"/>
              <a:ea typeface="Arial"/>
              <a:cs typeface="Arial"/>
              <a:sym typeface="Arial"/>
            </a:endParaRPr>
          </a:p>
        </p:txBody>
      </p:sp>
      <p:sp>
        <p:nvSpPr>
          <p:cNvPr id="251" name="Google Shape;251;p29"/>
          <p:cNvSpPr/>
          <p:nvPr/>
        </p:nvSpPr>
        <p:spPr>
          <a:xfrm>
            <a:off x="453968" y="4560089"/>
            <a:ext cx="2621666" cy="953563"/>
          </a:xfrm>
          <a:prstGeom prst="rect">
            <a:avLst/>
          </a:prstGeom>
          <a:solidFill>
            <a:srgbClr val="98ADC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Garamond"/>
                <a:ea typeface="Garamond"/>
                <a:cs typeface="Garamond"/>
                <a:sym typeface="Garamond"/>
              </a:rPr>
              <a:t>Common Disease Fit</a:t>
            </a:r>
            <a:endParaRPr sz="1800" b="0" i="0" u="none" strike="noStrike" cap="none">
              <a:solidFill>
                <a:srgbClr val="000000"/>
              </a:solidFill>
              <a:latin typeface="Arial"/>
              <a:ea typeface="Arial"/>
              <a:cs typeface="Arial"/>
              <a:sym typeface="Arial"/>
            </a:endParaRPr>
          </a:p>
        </p:txBody>
      </p:sp>
      <p:sp>
        <p:nvSpPr>
          <p:cNvPr id="252" name="Google Shape;252;p29"/>
          <p:cNvSpPr/>
          <p:nvPr/>
        </p:nvSpPr>
        <p:spPr>
          <a:xfrm>
            <a:off x="466896" y="1946525"/>
            <a:ext cx="2621666" cy="953563"/>
          </a:xfrm>
          <a:prstGeom prst="rect">
            <a:avLst/>
          </a:prstGeom>
          <a:solidFill>
            <a:srgbClr val="001F5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Garamond"/>
                <a:ea typeface="Garamond"/>
                <a:cs typeface="Garamond"/>
                <a:sym typeface="Garamond"/>
              </a:rPr>
              <a:t>Technological Breakthroughs &amp; Funding</a:t>
            </a:r>
            <a:endParaRPr sz="1800" b="0" i="0" u="none" strike="noStrike" cap="none">
              <a:solidFill>
                <a:srgbClr val="000000"/>
              </a:solidFill>
              <a:latin typeface="Arial"/>
              <a:ea typeface="Arial"/>
              <a:cs typeface="Arial"/>
              <a:sym typeface="Arial"/>
            </a:endParaRPr>
          </a:p>
        </p:txBody>
      </p:sp>
      <p:sp>
        <p:nvSpPr>
          <p:cNvPr id="253" name="Google Shape;253;p29"/>
          <p:cNvSpPr/>
          <p:nvPr/>
        </p:nvSpPr>
        <p:spPr>
          <a:xfrm>
            <a:off x="3075634" y="1946524"/>
            <a:ext cx="5645942" cy="953563"/>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aramond"/>
              <a:ea typeface="Garamond"/>
              <a:cs typeface="Garamond"/>
              <a:sym typeface="Garamond"/>
            </a:endParaRPr>
          </a:p>
        </p:txBody>
      </p:sp>
      <p:sp>
        <p:nvSpPr>
          <p:cNvPr id="254" name="Google Shape;254;p29"/>
          <p:cNvSpPr txBox="1"/>
          <p:nvPr/>
        </p:nvSpPr>
        <p:spPr>
          <a:xfrm>
            <a:off x="453968" y="1213328"/>
            <a:ext cx="8267608" cy="320492"/>
          </a:xfrm>
          <a:prstGeom prst="rect">
            <a:avLst/>
          </a:prstGeom>
          <a:solidFill>
            <a:srgbClr val="E6E6E6"/>
          </a:solidFill>
          <a:ln>
            <a:noFill/>
          </a:ln>
        </p:spPr>
        <p:txBody>
          <a:bodyPr spcFirstLastPara="1" wrap="square" lIns="0"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a:latin typeface="Garamond"/>
                <a:sym typeface="Garamond"/>
              </a:rPr>
              <a:t>Vertical Success contingent on both regulation and technology improvements</a:t>
            </a:r>
            <a:endParaRPr sz="1400" b="0" i="0" u="none" strike="noStrike" cap="none">
              <a:solidFill>
                <a:srgbClr val="000000"/>
              </a:solidFill>
              <a:latin typeface="Arial"/>
              <a:ea typeface="Arial"/>
              <a:cs typeface="Arial"/>
              <a:sym typeface="Arial"/>
            </a:endParaRPr>
          </a:p>
        </p:txBody>
      </p:sp>
      <p:sp>
        <p:nvSpPr>
          <p:cNvPr id="255" name="Google Shape;255;p29"/>
          <p:cNvSpPr/>
          <p:nvPr/>
        </p:nvSpPr>
        <p:spPr>
          <a:xfrm>
            <a:off x="3055107" y="3253306"/>
            <a:ext cx="5645942" cy="953563"/>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aramond"/>
              <a:ea typeface="Garamond"/>
              <a:cs typeface="Garamond"/>
              <a:sym typeface="Garamond"/>
            </a:endParaRPr>
          </a:p>
        </p:txBody>
      </p:sp>
      <p:sp>
        <p:nvSpPr>
          <p:cNvPr id="256" name="Google Shape;256;p29"/>
          <p:cNvSpPr/>
          <p:nvPr/>
        </p:nvSpPr>
        <p:spPr>
          <a:xfrm>
            <a:off x="3055107" y="4560087"/>
            <a:ext cx="5645942" cy="953563"/>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aramond"/>
              <a:ea typeface="Garamond"/>
              <a:cs typeface="Garamond"/>
              <a:sym typeface="Garamond"/>
            </a:endParaRPr>
          </a:p>
        </p:txBody>
      </p:sp>
      <p:sp>
        <p:nvSpPr>
          <p:cNvPr id="257" name="Google Shape;257;p29"/>
          <p:cNvSpPr/>
          <p:nvPr/>
        </p:nvSpPr>
        <p:spPr>
          <a:xfrm>
            <a:off x="3960012" y="2043752"/>
            <a:ext cx="4540679" cy="759106"/>
          </a:xfrm>
          <a:prstGeom prst="rect">
            <a:avLst/>
          </a:prstGeom>
          <a:noFill/>
          <a:ln>
            <a:noFill/>
          </a:ln>
        </p:spPr>
        <p:txBody>
          <a:bodyPr spcFirstLastPara="1" wrap="square" lIns="91425" tIns="45700" rIns="91425" bIns="45700" anchor="ctr" anchorCtr="0">
            <a:noAutofit/>
          </a:bodyPr>
          <a:lstStyle/>
          <a:p>
            <a:pPr marL="285750" marR="0" lvl="0" indent="-285750" algn="l" rtl="0">
              <a:lnSpc>
                <a:spcPct val="100000"/>
              </a:lnSpc>
              <a:spcBef>
                <a:spcPts val="0"/>
              </a:spcBef>
              <a:spcAft>
                <a:spcPts val="0"/>
              </a:spcAft>
              <a:buClr>
                <a:srgbClr val="000000"/>
              </a:buClr>
              <a:buSzPts val="1400"/>
              <a:buFont typeface="Arial"/>
              <a:buChar char="•"/>
            </a:pPr>
            <a:r>
              <a:rPr lang="en-US" sz="1400" b="0" i="0" u="none" strike="noStrike" cap="none">
                <a:solidFill>
                  <a:srgbClr val="151515"/>
                </a:solidFill>
                <a:latin typeface="Garamond"/>
                <a:ea typeface="Garamond"/>
                <a:cs typeface="Garamond"/>
                <a:sym typeface="Garamond"/>
              </a:rPr>
              <a:t>New </a:t>
            </a:r>
            <a:r>
              <a:rPr lang="en-US" sz="1400" b="0" i="1" u="none" strike="noStrike" cap="none">
                <a:solidFill>
                  <a:srgbClr val="151515"/>
                </a:solidFill>
                <a:latin typeface="Garamond"/>
                <a:ea typeface="Garamond"/>
                <a:cs typeface="Garamond"/>
                <a:sym typeface="Garamond"/>
              </a:rPr>
              <a:t>In-Vivo</a:t>
            </a:r>
            <a:r>
              <a:rPr lang="en-US" sz="1400" b="0" i="0" u="none" strike="noStrike" cap="none">
                <a:solidFill>
                  <a:srgbClr val="151515"/>
                </a:solidFill>
                <a:latin typeface="Garamond"/>
                <a:ea typeface="Garamond"/>
                <a:cs typeface="Garamond"/>
                <a:sym typeface="Garamond"/>
              </a:rPr>
              <a:t> technology </a:t>
            </a:r>
            <a:r>
              <a:rPr lang="en-US">
                <a:solidFill>
                  <a:srgbClr val="151515"/>
                </a:solidFill>
                <a:latin typeface="Garamond"/>
                <a:ea typeface="Garamond"/>
                <a:cs typeface="Garamond"/>
                <a:sym typeface="Garamond"/>
              </a:rPr>
              <a:t>enabling more efficient editing</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400"/>
              <a:buFont typeface="Arial"/>
              <a:buChar char="•"/>
            </a:pPr>
            <a:r>
              <a:rPr lang="en-US" sz="1400" b="0" i="0" u="none" strike="noStrike" cap="none">
                <a:solidFill>
                  <a:srgbClr val="151515"/>
                </a:solidFill>
                <a:latin typeface="Garamond"/>
                <a:ea typeface="Garamond"/>
                <a:cs typeface="Garamond"/>
                <a:sym typeface="Garamond"/>
              </a:rPr>
              <a:t>AI integration in research is minimizing R&amp;D time spent</a:t>
            </a:r>
            <a:endParaRPr sz="1400" b="0" i="0" u="none" strike="noStrike" cap="none">
              <a:solidFill>
                <a:srgbClr val="000000"/>
              </a:solidFill>
              <a:latin typeface="Arial"/>
              <a:ea typeface="Arial"/>
              <a:cs typeface="Arial"/>
              <a:sym typeface="Arial"/>
            </a:endParaRPr>
          </a:p>
        </p:txBody>
      </p:sp>
      <p:sp>
        <p:nvSpPr>
          <p:cNvPr id="258" name="Google Shape;258;p29"/>
          <p:cNvSpPr/>
          <p:nvPr/>
        </p:nvSpPr>
        <p:spPr>
          <a:xfrm>
            <a:off x="3960012" y="3353337"/>
            <a:ext cx="4540679" cy="759106"/>
          </a:xfrm>
          <a:prstGeom prst="rect">
            <a:avLst/>
          </a:prstGeom>
          <a:noFill/>
          <a:ln>
            <a:noFill/>
          </a:ln>
        </p:spPr>
        <p:txBody>
          <a:bodyPr spcFirstLastPara="1" wrap="square" lIns="91425" tIns="45700" rIns="91425" bIns="45700" anchor="ctr" anchorCtr="0">
            <a:noAutofit/>
          </a:bodyPr>
          <a:lstStyle/>
          <a:p>
            <a:pPr marL="285750" marR="0" lvl="0" indent="-285750" algn="l" rtl="0">
              <a:lnSpc>
                <a:spcPct val="100000"/>
              </a:lnSpc>
              <a:spcBef>
                <a:spcPts val="0"/>
              </a:spcBef>
              <a:spcAft>
                <a:spcPts val="0"/>
              </a:spcAft>
              <a:buClr>
                <a:srgbClr val="000000"/>
              </a:buClr>
              <a:buSzPts val="1400"/>
              <a:buFont typeface="Arial"/>
              <a:buChar char="•"/>
            </a:pPr>
            <a:r>
              <a:rPr lang="en-US" sz="1400" b="0" i="0" u="none" strike="noStrike" cap="none">
                <a:solidFill>
                  <a:srgbClr val="151515"/>
                </a:solidFill>
                <a:latin typeface="Garamond"/>
                <a:ea typeface="Garamond"/>
                <a:cs typeface="Garamond"/>
                <a:sym typeface="Garamond"/>
              </a:rPr>
              <a:t>FDA </a:t>
            </a:r>
            <a:r>
              <a:rPr lang="en-US">
                <a:solidFill>
                  <a:srgbClr val="151515"/>
                </a:solidFill>
                <a:latin typeface="Garamond"/>
                <a:ea typeface="Garamond"/>
                <a:cs typeface="Garamond"/>
                <a:sym typeface="Garamond"/>
              </a:rPr>
              <a:t>limiting constraints tied to small-batch gene therapy</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400"/>
              <a:buFont typeface="Arial"/>
              <a:buChar char="•"/>
            </a:pPr>
            <a:r>
              <a:rPr lang="en-US" sz="1380" b="0" i="0" u="none" strike="noStrike" cap="none">
                <a:solidFill>
                  <a:srgbClr val="151515"/>
                </a:solidFill>
                <a:latin typeface="Garamond"/>
                <a:ea typeface="Garamond"/>
                <a:cs typeface="Garamond"/>
                <a:sym typeface="Garamond"/>
              </a:rPr>
              <a:t>Utilizing surrogate endpoints, minimizing clinical wait times</a:t>
            </a:r>
            <a:endParaRPr sz="1380" b="0" i="0" u="none" strike="noStrike" cap="none">
              <a:solidFill>
                <a:srgbClr val="000000"/>
              </a:solidFill>
              <a:latin typeface="Arial"/>
              <a:ea typeface="Arial"/>
              <a:cs typeface="Arial"/>
              <a:sym typeface="Arial"/>
            </a:endParaRPr>
          </a:p>
        </p:txBody>
      </p:sp>
      <p:sp>
        <p:nvSpPr>
          <p:cNvPr id="259" name="Google Shape;259;p29"/>
          <p:cNvSpPr/>
          <p:nvPr/>
        </p:nvSpPr>
        <p:spPr>
          <a:xfrm>
            <a:off x="3933021" y="4657315"/>
            <a:ext cx="4540679" cy="759106"/>
          </a:xfrm>
          <a:prstGeom prst="rect">
            <a:avLst/>
          </a:prstGeom>
          <a:noFill/>
          <a:ln>
            <a:noFill/>
          </a:ln>
        </p:spPr>
        <p:txBody>
          <a:bodyPr spcFirstLastPara="1" wrap="square" lIns="91425" tIns="45700" rIns="91425" bIns="45700" anchor="ctr" anchorCtr="0">
            <a:noAutofit/>
          </a:bodyPr>
          <a:lstStyle/>
          <a:p>
            <a:pPr marL="285750" marR="0" lvl="0" indent="-285750" algn="l" rtl="0">
              <a:lnSpc>
                <a:spcPct val="100000"/>
              </a:lnSpc>
              <a:spcBef>
                <a:spcPts val="0"/>
              </a:spcBef>
              <a:spcAft>
                <a:spcPts val="0"/>
              </a:spcAft>
              <a:buClr>
                <a:srgbClr val="000000"/>
              </a:buClr>
              <a:buSzPts val="1400"/>
              <a:buFont typeface="Arial"/>
              <a:buChar char="•"/>
            </a:pPr>
            <a:r>
              <a:rPr lang="en-US" sz="1400" b="0" i="0" u="none" strike="noStrike" cap="none">
                <a:solidFill>
                  <a:srgbClr val="151515"/>
                </a:solidFill>
                <a:latin typeface="Garamond"/>
                <a:ea typeface="Garamond"/>
                <a:cs typeface="Garamond"/>
                <a:sym typeface="Garamond"/>
              </a:rPr>
              <a:t>Strong investment in oncology, currently growing success </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400"/>
              <a:buFont typeface="Arial"/>
              <a:buChar char="•"/>
            </a:pPr>
            <a:r>
              <a:rPr lang="en-US" sz="1380">
                <a:solidFill>
                  <a:srgbClr val="151515"/>
                </a:solidFill>
                <a:latin typeface="Garamond"/>
                <a:sym typeface="Garamond"/>
              </a:rPr>
              <a:t>Current expansion to CVD, neurology, &amp; metabolic disease</a:t>
            </a:r>
            <a:endParaRPr sz="1380" b="0" i="0" u="none" strike="noStrike" cap="none">
              <a:solidFill>
                <a:srgbClr val="000000"/>
              </a:solidFill>
              <a:latin typeface="Arial"/>
              <a:ea typeface="Arial"/>
              <a:cs typeface="Arial"/>
              <a:sym typeface="Arial"/>
            </a:endParaRPr>
          </a:p>
        </p:txBody>
      </p:sp>
      <p:sp>
        <p:nvSpPr>
          <p:cNvPr id="260" name="Google Shape;260;p29"/>
          <p:cNvSpPr/>
          <p:nvPr/>
        </p:nvSpPr>
        <p:spPr>
          <a:xfrm rot="5400000">
            <a:off x="2711713" y="2298046"/>
            <a:ext cx="953564" cy="250518"/>
          </a:xfrm>
          <a:prstGeom prst="triangle">
            <a:avLst>
              <a:gd name="adj" fmla="val 53146"/>
            </a:avLst>
          </a:prstGeom>
          <a:solidFill>
            <a:srgbClr val="001F5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61" name="Google Shape;261;p29"/>
          <p:cNvSpPr/>
          <p:nvPr/>
        </p:nvSpPr>
        <p:spPr>
          <a:xfrm rot="5400000">
            <a:off x="2699031" y="3604827"/>
            <a:ext cx="953564" cy="250518"/>
          </a:xfrm>
          <a:prstGeom prst="triangle">
            <a:avLst>
              <a:gd name="adj" fmla="val 53146"/>
            </a:avLst>
          </a:prstGeom>
          <a:solidFill>
            <a:srgbClr val="4E619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62" name="Google Shape;262;p29"/>
          <p:cNvSpPr/>
          <p:nvPr/>
        </p:nvSpPr>
        <p:spPr>
          <a:xfrm rot="5400000">
            <a:off x="2697214" y="4911607"/>
            <a:ext cx="953564" cy="250518"/>
          </a:xfrm>
          <a:prstGeom prst="triangle">
            <a:avLst>
              <a:gd name="adj" fmla="val 53146"/>
            </a:avLst>
          </a:prstGeom>
          <a:solidFill>
            <a:srgbClr val="98ADC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63" name="Google Shape;263;p29"/>
          <p:cNvSpPr/>
          <p:nvPr/>
        </p:nvSpPr>
        <p:spPr>
          <a:xfrm>
            <a:off x="453968" y="506499"/>
            <a:ext cx="8267608" cy="321600"/>
          </a:xfrm>
          <a:prstGeom prst="rect">
            <a:avLst/>
          </a:prstGeom>
          <a:noFill/>
          <a:ln>
            <a:noFill/>
          </a:ln>
        </p:spPr>
        <p:txBody>
          <a:bodyPr spcFirstLastPara="1" wrap="square" lIns="91425" tIns="91425" rIns="91425" bIns="91425" anchor="ctr" anchorCtr="0">
            <a:noAutofit/>
          </a:bodyPr>
          <a:lstStyle/>
          <a:p>
            <a:r>
              <a:rPr lang="en-US" sz="2500" b="1">
                <a:solidFill>
                  <a:srgbClr val="151515"/>
                </a:solidFill>
                <a:latin typeface="Garamond"/>
                <a:sym typeface="Garamond"/>
              </a:rPr>
              <a:t>Macro Drivers</a:t>
            </a:r>
            <a:endParaRPr lang="en-US"/>
          </a:p>
        </p:txBody>
      </p:sp>
      <p:sp>
        <p:nvSpPr>
          <p:cNvPr id="264" name="Google Shape;264;p29"/>
          <p:cNvSpPr txBox="1"/>
          <p:nvPr/>
        </p:nvSpPr>
        <p:spPr>
          <a:xfrm>
            <a:off x="8086127" y="6544036"/>
            <a:ext cx="635449" cy="212366"/>
          </a:xfrm>
          <a:prstGeom prst="rect">
            <a:avLst/>
          </a:prstGeom>
          <a:noFill/>
          <a:ln>
            <a:noFill/>
          </a:ln>
        </p:spPr>
        <p:txBody>
          <a:bodyPr spcFirstLastPara="1" wrap="square" lIns="0" tIns="0" rIns="0" bIns="0" anchor="ctr" anchorCtr="0">
            <a:spAutoFit/>
          </a:bodyPr>
          <a:lstStyle/>
          <a:p>
            <a:pPr marL="38100" marR="0" lvl="0" indent="0" algn="r" rtl="0">
              <a:lnSpc>
                <a:spcPct val="114583"/>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Garamond"/>
                <a:ea typeface="Garamond"/>
                <a:cs typeface="Garamond"/>
                <a:sym typeface="Garamond"/>
              </a:rPr>
              <a:t>6</a:t>
            </a:fld>
            <a:endParaRPr sz="1200" b="0" i="0" u="none" strike="noStrike" cap="none">
              <a:solidFill>
                <a:srgbClr val="000000"/>
              </a:solidFill>
              <a:latin typeface="Garamond"/>
              <a:ea typeface="Garamond"/>
              <a:cs typeface="Garamond"/>
              <a:sym typeface="Garamon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32"/>
          <p:cNvSpPr txBox="1"/>
          <p:nvPr/>
        </p:nvSpPr>
        <p:spPr>
          <a:xfrm>
            <a:off x="453968" y="4621356"/>
            <a:ext cx="8267608" cy="320492"/>
          </a:xfrm>
          <a:prstGeom prst="rect">
            <a:avLst/>
          </a:prstGeom>
          <a:solidFill>
            <a:srgbClr val="E6E6E6"/>
          </a:solidFill>
          <a:ln>
            <a:noFill/>
          </a:ln>
        </p:spPr>
        <p:txBody>
          <a:bodyPr spcFirstLastPara="1" wrap="square" lIns="0"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Garamond"/>
                <a:ea typeface="Arial"/>
                <a:cs typeface="Arial"/>
                <a:sym typeface="Garamond"/>
              </a:rPr>
              <a:t>Strong consolidation from large </a:t>
            </a:r>
            <a:r>
              <a:rPr lang="en-US">
                <a:latin typeface="Garamond"/>
                <a:sym typeface="Garamond"/>
              </a:rPr>
              <a:t>biopharma, buying Phase 2/3 companies &amp; utilizing patents</a:t>
            </a:r>
            <a:endParaRPr sz="1400" b="0" i="0" u="none" strike="noStrike" cap="none">
              <a:solidFill>
                <a:srgbClr val="000000"/>
              </a:solidFill>
              <a:latin typeface="Arial"/>
              <a:ea typeface="Arial"/>
              <a:cs typeface="Arial"/>
              <a:sym typeface="Arial"/>
            </a:endParaRPr>
          </a:p>
        </p:txBody>
      </p:sp>
      <p:sp>
        <p:nvSpPr>
          <p:cNvPr id="294" name="Google Shape;294;p32"/>
          <p:cNvSpPr/>
          <p:nvPr/>
        </p:nvSpPr>
        <p:spPr>
          <a:xfrm>
            <a:off x="453968" y="506499"/>
            <a:ext cx="8267608" cy="321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151515"/>
                </a:solidFill>
                <a:latin typeface="Garamond"/>
                <a:ea typeface="Garamond"/>
                <a:cs typeface="Garamond"/>
                <a:sym typeface="Garamond"/>
              </a:rPr>
              <a:t>Key Players</a:t>
            </a:r>
            <a:endParaRPr sz="1400" b="0" i="0" u="none" strike="noStrike" cap="none">
              <a:solidFill>
                <a:srgbClr val="000000"/>
              </a:solidFill>
              <a:latin typeface="Arial"/>
              <a:ea typeface="Arial"/>
              <a:cs typeface="Arial"/>
              <a:sym typeface="Arial"/>
            </a:endParaRPr>
          </a:p>
        </p:txBody>
      </p:sp>
      <p:sp>
        <p:nvSpPr>
          <p:cNvPr id="295" name="Google Shape;295;p32"/>
          <p:cNvSpPr txBox="1"/>
          <p:nvPr/>
        </p:nvSpPr>
        <p:spPr>
          <a:xfrm>
            <a:off x="8086127" y="6544036"/>
            <a:ext cx="635449" cy="212366"/>
          </a:xfrm>
          <a:prstGeom prst="rect">
            <a:avLst/>
          </a:prstGeom>
          <a:noFill/>
          <a:ln>
            <a:noFill/>
          </a:ln>
        </p:spPr>
        <p:txBody>
          <a:bodyPr spcFirstLastPara="1" wrap="square" lIns="0" tIns="0" rIns="0" bIns="0" anchor="ctr" anchorCtr="0">
            <a:spAutoFit/>
          </a:bodyPr>
          <a:lstStyle/>
          <a:p>
            <a:pPr marL="38100" marR="0" lvl="0" indent="0" algn="r" rtl="0">
              <a:lnSpc>
                <a:spcPct val="114583"/>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Garamond"/>
                <a:ea typeface="Garamond"/>
                <a:cs typeface="Garamond"/>
                <a:sym typeface="Garamond"/>
              </a:rPr>
              <a:t>7</a:t>
            </a:fld>
            <a:endParaRPr sz="1200" b="0" i="0" u="none" strike="noStrike" cap="none">
              <a:solidFill>
                <a:srgbClr val="000000"/>
              </a:solidFill>
              <a:latin typeface="Garamond"/>
              <a:ea typeface="Garamond"/>
              <a:cs typeface="Garamond"/>
              <a:sym typeface="Garamond"/>
            </a:endParaRPr>
          </a:p>
        </p:txBody>
      </p:sp>
      <p:sp>
        <p:nvSpPr>
          <p:cNvPr id="296" name="Google Shape;296;p32"/>
          <p:cNvSpPr/>
          <p:nvPr/>
        </p:nvSpPr>
        <p:spPr>
          <a:xfrm>
            <a:off x="453968" y="1364786"/>
            <a:ext cx="2358887" cy="470167"/>
          </a:xfrm>
          <a:prstGeom prst="rect">
            <a:avLst/>
          </a:prstGeom>
          <a:solidFill>
            <a:srgbClr val="001F5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Big Pharma</a:t>
            </a:r>
            <a:endParaRPr sz="1400" b="0" i="0" u="none" strike="noStrike" cap="none">
              <a:solidFill>
                <a:srgbClr val="000000"/>
              </a:solidFill>
              <a:latin typeface="Arial"/>
              <a:ea typeface="Arial"/>
              <a:cs typeface="Arial"/>
              <a:sym typeface="Arial"/>
            </a:endParaRPr>
          </a:p>
        </p:txBody>
      </p:sp>
      <p:sp>
        <p:nvSpPr>
          <p:cNvPr id="297" name="Google Shape;297;p32"/>
          <p:cNvSpPr/>
          <p:nvPr/>
        </p:nvSpPr>
        <p:spPr>
          <a:xfrm>
            <a:off x="3408329" y="1364786"/>
            <a:ext cx="2358887" cy="470167"/>
          </a:xfrm>
          <a:prstGeom prst="rect">
            <a:avLst/>
          </a:prstGeom>
          <a:solidFill>
            <a:srgbClr val="4E619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a:solidFill>
                  <a:schemeClr val="lt1"/>
                </a:solidFill>
                <a:latin typeface="Garamond"/>
                <a:sym typeface="Garamond"/>
              </a:rPr>
              <a:t>Innovation Drivers</a:t>
            </a:r>
            <a:endParaRPr lang="en-US" sz="1400" b="0" i="0" u="none" strike="noStrike" cap="none">
              <a:solidFill>
                <a:srgbClr val="000000"/>
              </a:solidFill>
              <a:latin typeface="Arial"/>
              <a:ea typeface="Arial"/>
              <a:cs typeface="Arial"/>
              <a:sym typeface="Arial"/>
            </a:endParaRPr>
          </a:p>
        </p:txBody>
      </p:sp>
      <p:sp>
        <p:nvSpPr>
          <p:cNvPr id="298" name="Google Shape;298;p32"/>
          <p:cNvSpPr/>
          <p:nvPr/>
        </p:nvSpPr>
        <p:spPr>
          <a:xfrm>
            <a:off x="6362689" y="1364786"/>
            <a:ext cx="2358887" cy="470167"/>
          </a:xfrm>
          <a:prstGeom prst="rect">
            <a:avLst/>
          </a:prstGeom>
          <a:solidFill>
            <a:srgbClr val="98ADC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CDMOs</a:t>
            </a:r>
            <a:endParaRPr sz="1400" b="0" i="0" u="none" strike="noStrike" cap="none">
              <a:solidFill>
                <a:srgbClr val="000000"/>
              </a:solidFill>
              <a:latin typeface="Arial"/>
              <a:ea typeface="Arial"/>
              <a:cs typeface="Arial"/>
              <a:sym typeface="Arial"/>
            </a:endParaRPr>
          </a:p>
        </p:txBody>
      </p:sp>
      <p:sp>
        <p:nvSpPr>
          <p:cNvPr id="299" name="Google Shape;299;p32"/>
          <p:cNvSpPr/>
          <p:nvPr/>
        </p:nvSpPr>
        <p:spPr>
          <a:xfrm>
            <a:off x="453968" y="2103595"/>
            <a:ext cx="2358887" cy="2233369"/>
          </a:xfrm>
          <a:prstGeom prst="rect">
            <a:avLst/>
          </a:prstGeom>
          <a:noFill/>
          <a:ln w="9525" cap="flat" cmpd="sng">
            <a:solidFill>
              <a:srgbClr val="001F50"/>
            </a:solidFill>
            <a:prstDash val="solid"/>
            <a:round/>
            <a:headEnd type="none" w="sm" len="sm"/>
            <a:tailEnd type="none" w="sm" len="sm"/>
          </a:ln>
        </p:spPr>
        <p:txBody>
          <a:bodyPr spcFirstLastPara="1" wrap="square" lIns="91425" tIns="45700" rIns="91425" bIns="45700" anchor="t" anchorCtr="0">
            <a:noAutofit/>
          </a:bodyPr>
          <a:lstStyle/>
          <a:p>
            <a:pPr marL="285750" marR="0" lvl="0" indent="-285750" algn="l" rtl="0">
              <a:lnSpc>
                <a:spcPct val="100000"/>
              </a:lnSpc>
              <a:spcBef>
                <a:spcPts val="0"/>
              </a:spcBef>
              <a:spcAft>
                <a:spcPts val="0"/>
              </a:spcAft>
              <a:buClr>
                <a:srgbClr val="000000"/>
              </a:buClr>
              <a:buSzPts val="1400"/>
              <a:buFont typeface="Arial"/>
              <a:buChar char="•"/>
            </a:pPr>
            <a:r>
              <a:rPr lang="en-US" sz="1400" b="0" i="0" u="none" strike="noStrike" cap="none">
                <a:solidFill>
                  <a:srgbClr val="151515"/>
                </a:solidFill>
                <a:latin typeface="Garamond"/>
                <a:ea typeface="Garamond"/>
                <a:cs typeface="Garamond"/>
                <a:sym typeface="Garamond"/>
              </a:rPr>
              <a:t>Integrate </a:t>
            </a:r>
            <a:r>
              <a:rPr lang="en-US">
                <a:solidFill>
                  <a:srgbClr val="151515"/>
                </a:solidFill>
                <a:latin typeface="Garamond"/>
                <a:ea typeface="Garamond"/>
                <a:cs typeface="Garamond"/>
                <a:sym typeface="Garamond"/>
              </a:rPr>
              <a:t>modification </a:t>
            </a:r>
            <a:r>
              <a:rPr lang="en-US" sz="1400" b="0" i="0" u="none" strike="noStrike" cap="none">
                <a:solidFill>
                  <a:srgbClr val="151515"/>
                </a:solidFill>
                <a:latin typeface="Garamond"/>
                <a:ea typeface="Garamond"/>
                <a:cs typeface="Garamond"/>
                <a:sym typeface="Garamond"/>
              </a:rPr>
              <a:t>into their supply chains, globalizing gene therapies</a:t>
            </a:r>
            <a:endParaRPr sz="1400" b="0" i="0" u="none" strike="noStrike" cap="none">
              <a:solidFill>
                <a:srgbClr val="000000"/>
              </a:solidFill>
              <a:latin typeface="Arial"/>
              <a:ea typeface="Arial"/>
              <a:cs typeface="Arial"/>
              <a:sym typeface="Arial"/>
            </a:endParaRPr>
          </a:p>
          <a:p>
            <a:pPr marL="285750" marR="0" lvl="0" indent="-196850" algn="l" rtl="0">
              <a:lnSpc>
                <a:spcPct val="100000"/>
              </a:lnSpc>
              <a:spcBef>
                <a:spcPts val="0"/>
              </a:spcBef>
              <a:spcAft>
                <a:spcPts val="0"/>
              </a:spcAft>
              <a:buClr>
                <a:srgbClr val="000000"/>
              </a:buClr>
              <a:buSzPts val="1400"/>
              <a:buFont typeface="Arial"/>
              <a:buNone/>
            </a:pPr>
            <a:endParaRPr sz="1400" b="0" i="0" u="none" strike="noStrike" cap="none">
              <a:solidFill>
                <a:srgbClr val="151515"/>
              </a:solidFill>
              <a:latin typeface="Garamond"/>
              <a:ea typeface="Garamond"/>
              <a:cs typeface="Garamond"/>
              <a:sym typeface="Garamond"/>
            </a:endParaRPr>
          </a:p>
        </p:txBody>
      </p:sp>
      <p:sp>
        <p:nvSpPr>
          <p:cNvPr id="300" name="Google Shape;300;p32"/>
          <p:cNvSpPr/>
          <p:nvPr/>
        </p:nvSpPr>
        <p:spPr>
          <a:xfrm>
            <a:off x="3408329" y="2103594"/>
            <a:ext cx="2358887" cy="2233369"/>
          </a:xfrm>
          <a:prstGeom prst="rect">
            <a:avLst/>
          </a:prstGeom>
          <a:noFill/>
          <a:ln w="9525" cap="flat" cmpd="sng">
            <a:solidFill>
              <a:srgbClr val="4E6190"/>
            </a:solidFill>
            <a:prstDash val="solid"/>
            <a:round/>
            <a:headEnd type="none" w="sm" len="sm"/>
            <a:tailEnd type="none" w="sm" len="sm"/>
          </a:ln>
        </p:spPr>
        <p:txBody>
          <a:bodyPr spcFirstLastPara="1" wrap="square" lIns="91425" tIns="45700" rIns="91425" bIns="45700" anchor="t" anchorCtr="0">
            <a:noAutofit/>
          </a:bodyPr>
          <a:lstStyle/>
          <a:p>
            <a:pPr marL="285750" marR="0" lvl="0" indent="-285750" algn="l" rtl="0">
              <a:lnSpc>
                <a:spcPct val="100000"/>
              </a:lnSpc>
              <a:spcBef>
                <a:spcPts val="0"/>
              </a:spcBef>
              <a:spcAft>
                <a:spcPts val="0"/>
              </a:spcAft>
              <a:buClr>
                <a:srgbClr val="000000"/>
              </a:buClr>
              <a:buSzPts val="1400"/>
              <a:buFont typeface="Arial"/>
              <a:buChar char="•"/>
            </a:pPr>
            <a:r>
              <a:rPr lang="en-US">
                <a:solidFill>
                  <a:srgbClr val="151515"/>
                </a:solidFill>
                <a:latin typeface="Garamond"/>
                <a:ea typeface="Garamond"/>
                <a:cs typeface="Garamond"/>
                <a:sym typeface="Garamond"/>
              </a:rPr>
              <a:t>CRISPR alongside specialty therapeutics dominate innovation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151515"/>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151515"/>
              </a:solidFill>
              <a:latin typeface="Garamond"/>
              <a:ea typeface="Garamond"/>
              <a:cs typeface="Garamond"/>
              <a:sym typeface="Garamond"/>
            </a:endParaRPr>
          </a:p>
        </p:txBody>
      </p:sp>
      <p:sp>
        <p:nvSpPr>
          <p:cNvPr id="301" name="Google Shape;301;p32"/>
          <p:cNvSpPr/>
          <p:nvPr/>
        </p:nvSpPr>
        <p:spPr>
          <a:xfrm>
            <a:off x="6362689" y="2103594"/>
            <a:ext cx="2358887" cy="2233369"/>
          </a:xfrm>
          <a:prstGeom prst="rect">
            <a:avLst/>
          </a:prstGeom>
          <a:noFill/>
          <a:ln w="9525" cap="flat" cmpd="sng">
            <a:solidFill>
              <a:srgbClr val="98ADCF"/>
            </a:solidFill>
            <a:prstDash val="solid"/>
            <a:round/>
            <a:headEnd type="none" w="sm" len="sm"/>
            <a:tailEnd type="none" w="sm" len="sm"/>
          </a:ln>
        </p:spPr>
        <p:txBody>
          <a:bodyPr spcFirstLastPara="1" wrap="square" lIns="91425" tIns="45700" rIns="91425" bIns="45700" anchor="t" anchorCtr="0">
            <a:noAutofit/>
          </a:bodyPr>
          <a:lstStyle/>
          <a:p>
            <a:pPr marL="285750" marR="0" lvl="0" indent="-285750" algn="l" rtl="0">
              <a:lnSpc>
                <a:spcPct val="100000"/>
              </a:lnSpc>
              <a:spcBef>
                <a:spcPts val="0"/>
              </a:spcBef>
              <a:spcAft>
                <a:spcPts val="0"/>
              </a:spcAft>
              <a:buClr>
                <a:srgbClr val="000000"/>
              </a:buClr>
              <a:buSzPts val="1400"/>
              <a:buFont typeface="Arial"/>
              <a:buChar char="•"/>
            </a:pPr>
            <a:r>
              <a:rPr lang="en-US" sz="1400" b="0" i="0" u="none" strike="noStrike" cap="none">
                <a:solidFill>
                  <a:srgbClr val="151515"/>
                </a:solidFill>
                <a:latin typeface="Garamond"/>
                <a:ea typeface="Garamond"/>
                <a:cs typeface="Garamond"/>
                <a:sym typeface="Garamond"/>
              </a:rPr>
              <a:t>Development and manufacturing for startups outsourced to these</a:t>
            </a:r>
          </a:p>
          <a:p>
            <a:pPr marL="285750" marR="0" lvl="0" indent="-285750" algn="l" rtl="0">
              <a:lnSpc>
                <a:spcPct val="100000"/>
              </a:lnSpc>
              <a:spcBef>
                <a:spcPts val="0"/>
              </a:spcBef>
              <a:spcAft>
                <a:spcPts val="0"/>
              </a:spcAft>
              <a:buClr>
                <a:srgbClr val="000000"/>
              </a:buClr>
              <a:buSzPts val="1400"/>
              <a:buFont typeface="Arial"/>
              <a:buChar char="•"/>
            </a:pPr>
            <a:endParaRPr sz="1400" b="0" i="0" u="none" strike="noStrike" cap="none">
              <a:solidFill>
                <a:srgbClr val="000000"/>
              </a:solidFill>
              <a:latin typeface="Arial"/>
              <a:ea typeface="Arial"/>
              <a:cs typeface="Arial"/>
              <a:sym typeface="Arial"/>
            </a:endParaRPr>
          </a:p>
          <a:p>
            <a:pPr marL="285750" marR="0" lvl="0" indent="-196850" algn="l" rtl="0">
              <a:lnSpc>
                <a:spcPct val="100000"/>
              </a:lnSpc>
              <a:spcBef>
                <a:spcPts val="0"/>
              </a:spcBef>
              <a:spcAft>
                <a:spcPts val="0"/>
              </a:spcAft>
              <a:buClr>
                <a:srgbClr val="000000"/>
              </a:buClr>
              <a:buSzPts val="1400"/>
              <a:buFont typeface="Arial"/>
              <a:buNone/>
            </a:pPr>
            <a:endParaRPr sz="1400" b="0" i="0" u="none" strike="noStrike" cap="none">
              <a:solidFill>
                <a:srgbClr val="151515"/>
              </a:solidFill>
              <a:latin typeface="Garamond"/>
              <a:ea typeface="Garamond"/>
              <a:cs typeface="Garamond"/>
              <a:sym typeface="Garamond"/>
            </a:endParaRPr>
          </a:p>
        </p:txBody>
      </p:sp>
      <p:pic>
        <p:nvPicPr>
          <p:cNvPr id="1026" name="Picture 2" descr="Lonza - MassBio">
            <a:extLst>
              <a:ext uri="{FF2B5EF4-FFF2-40B4-BE49-F238E27FC236}">
                <a16:creationId xmlns:a16="http://schemas.microsoft.com/office/drawing/2014/main" id="{12EFD0BA-F143-D508-F922-2731BED543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96055" y="2925257"/>
            <a:ext cx="1703681" cy="65237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Leading Global CDMO Pharma Solutions ...">
            <a:extLst>
              <a:ext uri="{FF2B5EF4-FFF2-40B4-BE49-F238E27FC236}">
                <a16:creationId xmlns:a16="http://schemas.microsoft.com/office/drawing/2014/main" id="{B4856AFB-FEA7-AF39-F9FF-542D138344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47896" y="3680212"/>
            <a:ext cx="1255553" cy="26978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RISPR Therapeutics - BioSpace">
            <a:extLst>
              <a:ext uri="{FF2B5EF4-FFF2-40B4-BE49-F238E27FC236}">
                <a16:creationId xmlns:a16="http://schemas.microsoft.com/office/drawing/2014/main" id="{819C3568-7B36-EA14-E34D-F99E87BB5F5D}"/>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5458" t="11798" r="26243" b="7517"/>
          <a:stretch>
            <a:fillRect/>
          </a:stretch>
        </p:blipFill>
        <p:spPr bwMode="auto">
          <a:xfrm>
            <a:off x="3640667" y="2882395"/>
            <a:ext cx="694267" cy="652374"/>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Novartis Pharmaceuticals United States of America">
            <a:extLst>
              <a:ext uri="{FF2B5EF4-FFF2-40B4-BE49-F238E27FC236}">
                <a16:creationId xmlns:a16="http://schemas.microsoft.com/office/drawing/2014/main" id="{62CC5684-FD4E-DEAA-5449-A520AA1F22E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8248" y="2860828"/>
            <a:ext cx="1092525" cy="573576"/>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Bristol Myers to pay up to $1.56 bln to develop, sell Agenus's cancer  therapy (May 18) | Reuters">
            <a:extLst>
              <a:ext uri="{FF2B5EF4-FFF2-40B4-BE49-F238E27FC236}">
                <a16:creationId xmlns:a16="http://schemas.microsoft.com/office/drawing/2014/main" id="{336BF5BA-7B42-1F92-4F14-2603BADC490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42664" y="3251444"/>
            <a:ext cx="1279972" cy="735984"/>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Roche and Spark are Working Together to Boost Manufacturing Capacity">
            <a:extLst>
              <a:ext uri="{FF2B5EF4-FFF2-40B4-BE49-F238E27FC236}">
                <a16:creationId xmlns:a16="http://schemas.microsoft.com/office/drawing/2014/main" id="{621D818F-8BC5-70B4-608D-E9B97656143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57089" y="3746269"/>
            <a:ext cx="1530445" cy="573917"/>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Breaking new ground to advance science with the potential to change lives | Beam  Therapeutics">
            <a:extLst>
              <a:ext uri="{FF2B5EF4-FFF2-40B4-BE49-F238E27FC236}">
                <a16:creationId xmlns:a16="http://schemas.microsoft.com/office/drawing/2014/main" id="{24352C27-CFB3-98E0-8C41-028BDB138A6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69805" y="2925257"/>
            <a:ext cx="921203" cy="522427"/>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Intellia Therapeutics - Revolutionize the course of medicine">
            <a:extLst>
              <a:ext uri="{FF2B5EF4-FFF2-40B4-BE49-F238E27FC236}">
                <a16:creationId xmlns:a16="http://schemas.microsoft.com/office/drawing/2014/main" id="{36CFDB0B-18E0-5C39-1A94-2240EBE826F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15976" y="3681707"/>
            <a:ext cx="868892" cy="305721"/>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Sarepta Therapeutics | Biopharmaceutical Company for Rare Diseases">
            <a:extLst>
              <a:ext uri="{FF2B5EF4-FFF2-40B4-BE49-F238E27FC236}">
                <a16:creationId xmlns:a16="http://schemas.microsoft.com/office/drawing/2014/main" id="{0B2627DD-7F49-AD1A-AF37-86FDD52110A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642457" y="3680212"/>
            <a:ext cx="954816" cy="366383"/>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293;p32">
            <a:extLst>
              <a:ext uri="{FF2B5EF4-FFF2-40B4-BE49-F238E27FC236}">
                <a16:creationId xmlns:a16="http://schemas.microsoft.com/office/drawing/2014/main" id="{A98B3F8E-93BA-E964-AF98-F558D6A04766}"/>
              </a:ext>
            </a:extLst>
          </p:cNvPr>
          <p:cNvSpPr txBox="1"/>
          <p:nvPr/>
        </p:nvSpPr>
        <p:spPr>
          <a:xfrm>
            <a:off x="438196" y="5231696"/>
            <a:ext cx="8267608" cy="320492"/>
          </a:xfrm>
          <a:prstGeom prst="rect">
            <a:avLst/>
          </a:prstGeom>
          <a:solidFill>
            <a:srgbClr val="E6E6E6"/>
          </a:solidFill>
          <a:ln>
            <a:noFill/>
          </a:ln>
        </p:spPr>
        <p:txBody>
          <a:bodyPr spcFirstLastPara="1" wrap="square" lIns="0"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Garamond"/>
                <a:ea typeface="Arial"/>
                <a:cs typeface="Arial"/>
                <a:sym typeface="Garamond"/>
              </a:rPr>
              <a:t>Growth lays in gene therapy applications</a:t>
            </a:r>
            <a:r>
              <a:rPr lang="en-US">
                <a:latin typeface="Garamond"/>
                <a:sym typeface="Garamond"/>
              </a:rPr>
              <a:t>, as gene editing can extend to new diseases/therapies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42"/>
          <p:cNvSpPr/>
          <p:nvPr/>
        </p:nvSpPr>
        <p:spPr>
          <a:xfrm>
            <a:off x="4232163" y="1488027"/>
            <a:ext cx="4464586" cy="231283"/>
          </a:xfrm>
          <a:prstGeom prst="rect">
            <a:avLst/>
          </a:prstGeom>
          <a:solidFill>
            <a:srgbClr val="001F6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lt1"/>
                </a:solidFill>
                <a:latin typeface="Garamond"/>
                <a:ea typeface="Garamond"/>
                <a:cs typeface="Garamond"/>
                <a:sym typeface="Garamond"/>
              </a:rPr>
              <a:t>Deal Breakdown</a:t>
            </a:r>
            <a:endParaRPr sz="1400" b="0" i="0" u="none" strike="noStrike" cap="none">
              <a:solidFill>
                <a:srgbClr val="000000"/>
              </a:solidFill>
              <a:latin typeface="Arial"/>
              <a:ea typeface="Arial"/>
              <a:cs typeface="Arial"/>
              <a:sym typeface="Arial"/>
            </a:endParaRPr>
          </a:p>
        </p:txBody>
      </p:sp>
      <p:sp>
        <p:nvSpPr>
          <p:cNvPr id="463" name="Google Shape;463;p42"/>
          <p:cNvSpPr/>
          <p:nvPr/>
        </p:nvSpPr>
        <p:spPr>
          <a:xfrm>
            <a:off x="4256989" y="2876871"/>
            <a:ext cx="4464586" cy="231283"/>
          </a:xfrm>
          <a:prstGeom prst="rect">
            <a:avLst/>
          </a:prstGeom>
          <a:solidFill>
            <a:srgbClr val="4074A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a:solidFill>
                  <a:schemeClr val="lt1"/>
                </a:solidFill>
                <a:latin typeface="Garamond"/>
                <a:sym typeface="Garamond"/>
              </a:rPr>
              <a:t>Pros &amp; Cons of Deal</a:t>
            </a:r>
            <a:endParaRPr sz="1400" b="0" i="0" u="none" strike="noStrike" cap="none">
              <a:solidFill>
                <a:srgbClr val="000000"/>
              </a:solidFill>
              <a:latin typeface="Arial"/>
              <a:ea typeface="Arial"/>
              <a:cs typeface="Arial"/>
              <a:sym typeface="Arial"/>
            </a:endParaRPr>
          </a:p>
        </p:txBody>
      </p:sp>
      <p:sp>
        <p:nvSpPr>
          <p:cNvPr id="464" name="Google Shape;464;p42"/>
          <p:cNvSpPr txBox="1"/>
          <p:nvPr/>
        </p:nvSpPr>
        <p:spPr>
          <a:xfrm>
            <a:off x="4232163" y="3339671"/>
            <a:ext cx="4464586" cy="461665"/>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200"/>
              <a:buFont typeface="Arial"/>
              <a:buChar char="•"/>
            </a:pPr>
            <a:r>
              <a:rPr lang="en-US" sz="1200" b="0" i="0" u="none" strike="noStrike" cap="none">
                <a:solidFill>
                  <a:srgbClr val="000000"/>
                </a:solidFill>
                <a:latin typeface="Garamond"/>
                <a:ea typeface="Garamond"/>
                <a:cs typeface="Garamond"/>
                <a:sym typeface="Garamond"/>
              </a:rPr>
              <a:t>Downside protection for LLY, sustained cash for </a:t>
            </a:r>
            <a:r>
              <a:rPr lang="en-US" sz="1200">
                <a:latin typeface="Garamond"/>
                <a:ea typeface="Garamond"/>
                <a:cs typeface="Garamond"/>
                <a:sym typeface="Garamond"/>
              </a:rPr>
              <a:t>R&amp;D </a:t>
            </a:r>
            <a:r>
              <a:rPr lang="en-US" sz="1200" b="0" i="0" u="none" strike="noStrike" cap="none">
                <a:solidFill>
                  <a:srgbClr val="000000"/>
                </a:solidFill>
                <a:latin typeface="Garamond"/>
                <a:ea typeface="Garamond"/>
                <a:cs typeface="Garamond"/>
                <a:sym typeface="Garamond"/>
              </a:rPr>
              <a:t>for Orna</a:t>
            </a:r>
            <a:endParaRPr sz="1200" b="0" i="0" u="none" strike="noStrike" cap="none">
              <a:solidFill>
                <a:srgbClr val="000000"/>
              </a:solidFill>
              <a:latin typeface="Garamond"/>
              <a:ea typeface="Garamond"/>
              <a:cs typeface="Garamond"/>
              <a:sym typeface="Garamond"/>
            </a:endParaRPr>
          </a:p>
          <a:p>
            <a:pPr marL="285750" marR="0" lvl="0" indent="-285750" algn="l" rtl="0">
              <a:lnSpc>
                <a:spcPct val="100000"/>
              </a:lnSpc>
              <a:spcBef>
                <a:spcPts val="0"/>
              </a:spcBef>
              <a:spcAft>
                <a:spcPts val="0"/>
              </a:spcAft>
              <a:buClr>
                <a:srgbClr val="000000"/>
              </a:buClr>
              <a:buSzPts val="1200"/>
              <a:buFont typeface="Arial"/>
              <a:buChar char="•"/>
            </a:pPr>
            <a:r>
              <a:rPr lang="en-US" sz="1200">
                <a:latin typeface="Garamond"/>
                <a:ea typeface="Garamond"/>
                <a:cs typeface="Garamond"/>
                <a:sym typeface="Garamond"/>
              </a:rPr>
              <a:t>Invasive aspects to in-vivo therapy, unproven </a:t>
            </a:r>
            <a:r>
              <a:rPr lang="en-US" sz="1200" err="1">
                <a:latin typeface="Garamond"/>
                <a:ea typeface="Garamond"/>
                <a:cs typeface="Garamond"/>
                <a:sym typeface="Garamond"/>
              </a:rPr>
              <a:t>oRNA</a:t>
            </a:r>
            <a:r>
              <a:rPr lang="en-US" sz="1200">
                <a:latin typeface="Garamond"/>
                <a:ea typeface="Garamond"/>
                <a:cs typeface="Garamond"/>
                <a:sym typeface="Garamond"/>
              </a:rPr>
              <a:t> technology</a:t>
            </a:r>
            <a:endParaRPr sz="1200" b="0" i="0" u="none" strike="noStrike" cap="none">
              <a:solidFill>
                <a:srgbClr val="000000"/>
              </a:solidFill>
              <a:latin typeface="Garamond"/>
              <a:ea typeface="Garamond"/>
              <a:cs typeface="Garamond"/>
              <a:sym typeface="Garamond"/>
            </a:endParaRPr>
          </a:p>
        </p:txBody>
      </p:sp>
      <p:sp>
        <p:nvSpPr>
          <p:cNvPr id="465" name="Google Shape;465;p42"/>
          <p:cNvSpPr/>
          <p:nvPr/>
        </p:nvSpPr>
        <p:spPr>
          <a:xfrm>
            <a:off x="446075" y="4273161"/>
            <a:ext cx="8240775" cy="233247"/>
          </a:xfrm>
          <a:prstGeom prst="rect">
            <a:avLst/>
          </a:prstGeom>
          <a:solidFill>
            <a:srgbClr val="001F6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lt1"/>
                </a:solidFill>
                <a:latin typeface="Garamond"/>
                <a:ea typeface="Garamond"/>
                <a:cs typeface="Garamond"/>
                <a:sym typeface="Garamond"/>
              </a:rPr>
              <a:t>Buyer and Seller Rationale</a:t>
            </a:r>
            <a:endParaRPr sz="1400" b="0" i="0" u="none" strike="noStrike" cap="none">
              <a:solidFill>
                <a:srgbClr val="000000"/>
              </a:solidFill>
              <a:latin typeface="Arial"/>
              <a:ea typeface="Arial"/>
              <a:cs typeface="Arial"/>
              <a:sym typeface="Arial"/>
            </a:endParaRPr>
          </a:p>
        </p:txBody>
      </p:sp>
      <p:sp>
        <p:nvSpPr>
          <p:cNvPr id="466" name="Google Shape;466;p42"/>
          <p:cNvSpPr/>
          <p:nvPr/>
        </p:nvSpPr>
        <p:spPr>
          <a:xfrm>
            <a:off x="446075" y="4817135"/>
            <a:ext cx="3931615" cy="836068"/>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151515"/>
                </a:solidFill>
                <a:latin typeface="Garamond"/>
                <a:ea typeface="Garamond"/>
                <a:cs typeface="Garamond"/>
                <a:sym typeface="Garamond"/>
              </a:rPr>
              <a:t>Eli Lilly</a:t>
            </a:r>
          </a:p>
          <a:p>
            <a:pPr marL="0" marR="0" lvl="0" indent="0" algn="ctr" rtl="0">
              <a:lnSpc>
                <a:spcPct val="100000"/>
              </a:lnSpc>
              <a:spcBef>
                <a:spcPts val="0"/>
              </a:spcBef>
              <a:spcAft>
                <a:spcPts val="0"/>
              </a:spcAft>
              <a:buClr>
                <a:srgbClr val="000000"/>
              </a:buClr>
              <a:buSzPts val="1200"/>
              <a:buFont typeface="Arial"/>
              <a:buNone/>
            </a:pPr>
            <a:r>
              <a:rPr lang="en-US" sz="1200">
                <a:solidFill>
                  <a:srgbClr val="151515"/>
                </a:solidFill>
                <a:latin typeface="Garamond"/>
                <a:ea typeface="Garamond"/>
                <a:cs typeface="Garamond"/>
                <a:sym typeface="Garamond"/>
              </a:rPr>
              <a:t>Current influx of cash from GLP-1 drugs</a:t>
            </a:r>
            <a:endParaRPr lang="en-US" sz="1200" b="0" i="0" u="none" strike="noStrike" cap="none">
              <a:solidFill>
                <a:srgbClr val="151515"/>
              </a:solidFill>
              <a:latin typeface="Garamond"/>
              <a:ea typeface="Garamond"/>
              <a:cs typeface="Garamond"/>
              <a:sym typeface="Garamond"/>
            </a:endParaRPr>
          </a:p>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151515"/>
                </a:solidFill>
                <a:latin typeface="Garamond"/>
                <a:ea typeface="Garamond"/>
                <a:cs typeface="Garamond"/>
                <a:sym typeface="Garamond"/>
              </a:rPr>
              <a:t>Reinvestment into immunology and research to sustain future</a:t>
            </a:r>
          </a:p>
        </p:txBody>
      </p:sp>
      <p:sp>
        <p:nvSpPr>
          <p:cNvPr id="467" name="Google Shape;467;p42"/>
          <p:cNvSpPr/>
          <p:nvPr/>
        </p:nvSpPr>
        <p:spPr>
          <a:xfrm>
            <a:off x="4754319" y="4817135"/>
            <a:ext cx="3931615" cy="836068"/>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151515"/>
                </a:solidFill>
                <a:latin typeface="Garamond"/>
                <a:ea typeface="Garamond"/>
                <a:cs typeface="Garamond"/>
                <a:sym typeface="Garamond"/>
              </a:rPr>
              <a:t>Orna Therapeutics</a:t>
            </a:r>
          </a:p>
          <a:p>
            <a:pPr marL="0" marR="0" lvl="0" indent="0" algn="ctr" rtl="0">
              <a:lnSpc>
                <a:spcPct val="100000"/>
              </a:lnSpc>
              <a:spcBef>
                <a:spcPts val="0"/>
              </a:spcBef>
              <a:spcAft>
                <a:spcPts val="0"/>
              </a:spcAft>
              <a:buClr>
                <a:srgbClr val="000000"/>
              </a:buClr>
              <a:buSzPts val="1200"/>
              <a:buFont typeface="Arial"/>
              <a:buNone/>
            </a:pPr>
            <a:r>
              <a:rPr lang="en-US" sz="1200">
                <a:solidFill>
                  <a:srgbClr val="151515"/>
                </a:solidFill>
                <a:latin typeface="Garamond"/>
                <a:ea typeface="Garamond"/>
                <a:cs typeface="Garamond"/>
                <a:sym typeface="Garamond"/>
              </a:rPr>
              <a:t>Faced ongoing layoffs throughout 2024-2025</a:t>
            </a:r>
          </a:p>
          <a:p>
            <a:pPr marL="0" marR="0" lvl="0" indent="0" algn="ctr" rtl="0">
              <a:lnSpc>
                <a:spcPct val="100000"/>
              </a:lnSpc>
              <a:spcBef>
                <a:spcPts val="0"/>
              </a:spcBef>
              <a:spcAft>
                <a:spcPts val="0"/>
              </a:spcAft>
              <a:buClr>
                <a:srgbClr val="000000"/>
              </a:buClr>
              <a:buSzPts val="1200"/>
              <a:buFont typeface="Arial"/>
              <a:buNone/>
            </a:pPr>
            <a:r>
              <a:rPr lang="en-US" sz="1200">
                <a:solidFill>
                  <a:srgbClr val="151515"/>
                </a:solidFill>
                <a:latin typeface="Garamond"/>
                <a:ea typeface="Garamond"/>
                <a:cs typeface="Garamond"/>
                <a:sym typeface="Garamond"/>
              </a:rPr>
              <a:t>Can sustain R&amp;D investment &amp; target “mass market” diseases</a:t>
            </a:r>
            <a:endParaRPr sz="1400" b="0" i="0" u="none" strike="noStrike" cap="none">
              <a:solidFill>
                <a:srgbClr val="151515"/>
              </a:solidFill>
              <a:latin typeface="Garamond"/>
              <a:ea typeface="Garamond"/>
              <a:cs typeface="Garamond"/>
              <a:sym typeface="Garamond"/>
            </a:endParaRPr>
          </a:p>
        </p:txBody>
      </p:sp>
      <p:sp>
        <p:nvSpPr>
          <p:cNvPr id="468" name="Google Shape;468;p42"/>
          <p:cNvSpPr txBox="1"/>
          <p:nvPr/>
        </p:nvSpPr>
        <p:spPr>
          <a:xfrm>
            <a:off x="4230485" y="1915545"/>
            <a:ext cx="4455449" cy="1015622"/>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200"/>
              <a:buFont typeface="Arial"/>
              <a:buChar char="•"/>
            </a:pPr>
            <a:r>
              <a:rPr lang="en-US" sz="1200" b="0" i="0" u="none" strike="noStrike" cap="none">
                <a:solidFill>
                  <a:srgbClr val="000000"/>
                </a:solidFill>
                <a:latin typeface="Garamond"/>
                <a:ea typeface="Garamond"/>
                <a:cs typeface="Garamond"/>
                <a:sym typeface="Garamond"/>
              </a:rPr>
              <a:t>Feb 2026: Eli Lilly announces $2.4B acquisition of Orna</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200"/>
              <a:buFont typeface="Arial"/>
              <a:buChar char="•"/>
            </a:pPr>
            <a:r>
              <a:rPr lang="en-US" sz="1200">
                <a:latin typeface="Garamond"/>
                <a:ea typeface="Garamond"/>
                <a:cs typeface="Garamond"/>
                <a:sym typeface="Garamond"/>
              </a:rPr>
              <a:t>Upfront cash investment, followed by milestone payments</a:t>
            </a:r>
          </a:p>
          <a:p>
            <a:pPr marL="285750" lvl="7" indent="-285750">
              <a:buSzPts val="1200"/>
              <a:buFont typeface="Arial"/>
              <a:buChar char="•"/>
            </a:pPr>
            <a:r>
              <a:rPr lang="en-US" sz="1200">
                <a:latin typeface="Garamond"/>
                <a:ea typeface="Garamond"/>
                <a:cs typeface="Garamond"/>
                <a:sym typeface="Garamond"/>
              </a:rPr>
              <a:t>Bought out previous funding done by Merck and Vertex Pharma</a:t>
            </a:r>
            <a:endParaRPr sz="1200" b="0" i="0" u="none" strike="noStrike" cap="none">
              <a:solidFill>
                <a:srgbClr val="000000"/>
              </a:solidFill>
              <a:latin typeface="Garamond"/>
              <a:ea typeface="Garamond"/>
              <a:cs typeface="Garamond"/>
              <a:sym typeface="Garamond"/>
            </a:endParaRPr>
          </a:p>
          <a:p>
            <a:pPr marL="285750" marR="0" lvl="0" indent="-20955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Garamond"/>
              <a:ea typeface="Garamond"/>
              <a:cs typeface="Garamond"/>
              <a:sym typeface="Garamond"/>
            </a:endParaRPr>
          </a:p>
          <a:p>
            <a:pPr marL="285750" marR="0" lvl="0" indent="-20955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Garamond"/>
              <a:ea typeface="Garamond"/>
              <a:cs typeface="Garamond"/>
              <a:sym typeface="Garamond"/>
            </a:endParaRPr>
          </a:p>
        </p:txBody>
      </p:sp>
      <p:sp>
        <p:nvSpPr>
          <p:cNvPr id="471" name="Google Shape;471;p42"/>
          <p:cNvSpPr/>
          <p:nvPr/>
        </p:nvSpPr>
        <p:spPr>
          <a:xfrm>
            <a:off x="453968" y="506499"/>
            <a:ext cx="8267608" cy="321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500"/>
              <a:buFont typeface="Arial"/>
              <a:buNone/>
            </a:pPr>
            <a:r>
              <a:rPr lang="en-US" sz="2500" b="1">
                <a:solidFill>
                  <a:srgbClr val="151515"/>
                </a:solidFill>
                <a:latin typeface="Garamond"/>
                <a:sym typeface="Garamond"/>
              </a:rPr>
              <a:t>Orna Therapeutics Acquisition</a:t>
            </a:r>
            <a:endParaRPr sz="1400" b="0" i="0" u="none" strike="noStrike" cap="none">
              <a:solidFill>
                <a:srgbClr val="000000"/>
              </a:solidFill>
              <a:latin typeface="Arial"/>
              <a:ea typeface="Arial"/>
              <a:cs typeface="Arial"/>
              <a:sym typeface="Arial"/>
            </a:endParaRPr>
          </a:p>
        </p:txBody>
      </p:sp>
      <p:sp>
        <p:nvSpPr>
          <p:cNvPr id="472" name="Google Shape;472;p42"/>
          <p:cNvSpPr txBox="1"/>
          <p:nvPr/>
        </p:nvSpPr>
        <p:spPr>
          <a:xfrm>
            <a:off x="8086127" y="6544036"/>
            <a:ext cx="635449" cy="212366"/>
          </a:xfrm>
          <a:prstGeom prst="rect">
            <a:avLst/>
          </a:prstGeom>
          <a:noFill/>
          <a:ln>
            <a:noFill/>
          </a:ln>
        </p:spPr>
        <p:txBody>
          <a:bodyPr spcFirstLastPara="1" wrap="square" lIns="0" tIns="0" rIns="0" bIns="0" anchor="ctr" anchorCtr="0">
            <a:spAutoFit/>
          </a:bodyPr>
          <a:lstStyle/>
          <a:p>
            <a:pPr marL="38100" marR="0" lvl="0" indent="0" algn="r" rtl="0">
              <a:lnSpc>
                <a:spcPct val="114583"/>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Garamond"/>
                <a:ea typeface="Garamond"/>
                <a:cs typeface="Garamond"/>
                <a:sym typeface="Garamond"/>
              </a:rPr>
              <a:t>8</a:t>
            </a:fld>
            <a:endParaRPr sz="1200" b="0" i="0" u="none" strike="noStrike" cap="none">
              <a:solidFill>
                <a:srgbClr val="000000"/>
              </a:solidFill>
              <a:latin typeface="Garamond"/>
              <a:ea typeface="Garamond"/>
              <a:cs typeface="Garamond"/>
              <a:sym typeface="Garamond"/>
            </a:endParaRPr>
          </a:p>
        </p:txBody>
      </p:sp>
      <p:graphicFrame>
        <p:nvGraphicFramePr>
          <p:cNvPr id="8" name="Chart 7">
            <a:extLst>
              <a:ext uri="{FF2B5EF4-FFF2-40B4-BE49-F238E27FC236}">
                <a16:creationId xmlns:a16="http://schemas.microsoft.com/office/drawing/2014/main" id="{5CE7C252-3CCB-A9F1-60AE-AC5E9A00D50B}"/>
              </a:ext>
            </a:extLst>
          </p:cNvPr>
          <p:cNvGraphicFramePr>
            <a:graphicFrameLocks/>
          </p:cNvGraphicFramePr>
          <p:nvPr>
            <p:extLst>
              <p:ext uri="{D42A27DB-BD31-4B8C-83A1-F6EECF244321}">
                <p14:modId xmlns:p14="http://schemas.microsoft.com/office/powerpoint/2010/main" val="1104061839"/>
              </p:ext>
            </p:extLst>
          </p:nvPr>
        </p:nvGraphicFramePr>
        <p:xfrm>
          <a:off x="313267" y="1345014"/>
          <a:ext cx="3881577" cy="2608956"/>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9CC22BAE-5FE2-9ED6-C4F6-BDA16CAD59F9}"/>
              </a:ext>
            </a:extLst>
          </p:cNvPr>
          <p:cNvSpPr txBox="1"/>
          <p:nvPr/>
        </p:nvSpPr>
        <p:spPr>
          <a:xfrm>
            <a:off x="617338" y="5952454"/>
            <a:ext cx="7940867" cy="307777"/>
          </a:xfrm>
          <a:prstGeom prst="rect">
            <a:avLst/>
          </a:prstGeom>
          <a:noFill/>
        </p:spPr>
        <p:txBody>
          <a:bodyPr wrap="square" rtlCol="0">
            <a:spAutoFit/>
          </a:bodyPr>
          <a:lstStyle/>
          <a:p>
            <a:pPr algn="ctr"/>
            <a:r>
              <a:rPr lang="en-US">
                <a:solidFill>
                  <a:schemeClr val="bg1"/>
                </a:solidFill>
                <a:latin typeface="Garamond" panose="02020404030301010803" pitchFamily="18" charset="0"/>
              </a:rPr>
              <a:t>Together, this is signaling a strong shift toward in-vivo treatment, even for therapies like cancer treatment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0"/>
          <p:cNvSpPr txBox="1"/>
          <p:nvPr/>
        </p:nvSpPr>
        <p:spPr>
          <a:xfrm>
            <a:off x="685800" y="2963863"/>
            <a:ext cx="7772400" cy="2387700"/>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0000"/>
              </a:buClr>
              <a:buSzPts val="5000"/>
              <a:buFont typeface="Arial"/>
              <a:buNone/>
            </a:pPr>
            <a:endParaRPr sz="5000" b="1" i="0" u="none" strike="noStrike" cap="none">
              <a:solidFill>
                <a:schemeClr val="lt1"/>
              </a:solidFill>
              <a:latin typeface="Garamond"/>
              <a:ea typeface="Garamond"/>
              <a:cs typeface="Garamond"/>
              <a:sym typeface="Garamond"/>
            </a:endParaRPr>
          </a:p>
          <a:p>
            <a:pPr marL="0" marR="0" lvl="0" indent="0" algn="l" rtl="0">
              <a:lnSpc>
                <a:spcPct val="90000"/>
              </a:lnSpc>
              <a:spcBef>
                <a:spcPts val="0"/>
              </a:spcBef>
              <a:spcAft>
                <a:spcPts val="0"/>
              </a:spcAft>
              <a:buClr>
                <a:srgbClr val="000000"/>
              </a:buClr>
              <a:buSzPts val="5000"/>
              <a:buFont typeface="Arial"/>
              <a:buNone/>
            </a:pPr>
            <a:r>
              <a:rPr lang="en-US" sz="5000" b="1" i="0" u="none" strike="noStrike" cap="none">
                <a:solidFill>
                  <a:schemeClr val="lt1"/>
                </a:solidFill>
                <a:latin typeface="Garamond"/>
                <a:ea typeface="Garamond"/>
                <a:cs typeface="Garamond"/>
                <a:sym typeface="Garamond"/>
              </a:rPr>
              <a:t>Thank You!</a:t>
            </a:r>
          </a:p>
          <a:p>
            <a:pPr marL="0" marR="0" lvl="0" indent="0" algn="l" rtl="0">
              <a:lnSpc>
                <a:spcPct val="90000"/>
              </a:lnSpc>
              <a:spcBef>
                <a:spcPts val="0"/>
              </a:spcBef>
              <a:spcAft>
                <a:spcPts val="0"/>
              </a:spcAft>
              <a:buClr>
                <a:srgbClr val="000000"/>
              </a:buClr>
              <a:buSzPts val="5000"/>
              <a:buFont typeface="Arial"/>
              <a:buNone/>
            </a:pPr>
            <a:endParaRPr sz="1400" b="0" i="0" u="none" strike="noStrike" cap="none">
              <a:solidFill>
                <a:srgbClr val="000000"/>
              </a:solidFill>
              <a:latin typeface="Arial"/>
              <a:ea typeface="Arial"/>
              <a:cs typeface="Arial"/>
              <a:sym typeface="Arial"/>
            </a:endParaRPr>
          </a:p>
        </p:txBody>
      </p:sp>
      <p:sp>
        <p:nvSpPr>
          <p:cNvPr id="147" name="Google Shape;147;p10"/>
          <p:cNvSpPr txBox="1"/>
          <p:nvPr/>
        </p:nvSpPr>
        <p:spPr>
          <a:xfrm>
            <a:off x="8086127" y="6544036"/>
            <a:ext cx="635449" cy="212366"/>
          </a:xfrm>
          <a:prstGeom prst="rect">
            <a:avLst/>
          </a:prstGeom>
          <a:noFill/>
          <a:ln>
            <a:noFill/>
          </a:ln>
        </p:spPr>
        <p:txBody>
          <a:bodyPr spcFirstLastPara="1" wrap="square" lIns="0" tIns="0" rIns="0" bIns="0" anchor="ctr" anchorCtr="0">
            <a:spAutoFit/>
          </a:bodyPr>
          <a:lstStyle/>
          <a:p>
            <a:pPr marL="38100" marR="0" lvl="0" indent="0" algn="r" rtl="0">
              <a:lnSpc>
                <a:spcPct val="114583"/>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lt1"/>
                </a:solidFill>
                <a:latin typeface="Garamond"/>
                <a:ea typeface="Garamond"/>
                <a:cs typeface="Garamond"/>
                <a:sym typeface="Garamond"/>
              </a:rPr>
              <a:t>9</a:t>
            </a:fld>
            <a:endParaRPr sz="1200" b="0" i="0" u="none" strike="noStrike" cap="none">
              <a:solidFill>
                <a:schemeClr val="lt1"/>
              </a:solidFill>
              <a:latin typeface="Garamond"/>
              <a:ea typeface="Garamond"/>
              <a:cs typeface="Garamond"/>
              <a:sym typeface="Garamond"/>
            </a:endParaRPr>
          </a:p>
        </p:txBody>
      </p:sp>
    </p:spTree>
  </p:cSld>
  <p:clrMapOvr>
    <a:masterClrMapping/>
  </p:clrMapOvr>
</p:sld>
</file>

<file path=ppt/theme/theme1.xml><?xml version="1.0" encoding="utf-8"?>
<a:theme xmlns:a="http://schemas.openxmlformats.org/drawingml/2006/main" name="Michigan PEVC Template">
  <a:themeElements>
    <a:clrScheme name="Nexecon Color Scheme">
      <a:dk1>
        <a:srgbClr val="505050"/>
      </a:dk1>
      <a:lt1>
        <a:srgbClr val="FFFFFF"/>
      </a:lt1>
      <a:dk2>
        <a:srgbClr val="000000"/>
      </a:dk2>
      <a:lt2>
        <a:srgbClr val="3C3C3E"/>
      </a:lt2>
      <a:accent1>
        <a:srgbClr val="0072C6"/>
      </a:accent1>
      <a:accent2>
        <a:srgbClr val="002050"/>
      </a:accent2>
      <a:accent3>
        <a:srgbClr val="ED7D31"/>
      </a:accent3>
      <a:accent4>
        <a:srgbClr val="008272"/>
      </a:accent4>
      <a:accent5>
        <a:srgbClr val="DC3C00"/>
      </a:accent5>
      <a:accent6>
        <a:srgbClr val="D9D9D9"/>
      </a:accent6>
      <a:hlink>
        <a:srgbClr val="0070C0"/>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DD589CED3A06E479A109998C02F4E5E" ma:contentTypeVersion="5" ma:contentTypeDescription="Create a new document." ma:contentTypeScope="" ma:versionID="a04da67be9e4c411e06746a62a1ec587">
  <xsd:schema xmlns:xsd="http://www.w3.org/2001/XMLSchema" xmlns:xs="http://www.w3.org/2001/XMLSchema" xmlns:p="http://schemas.microsoft.com/office/2006/metadata/properties" xmlns:ns3="5a900d02-bfa4-4031-90cf-f140c05c2832" targetNamespace="http://schemas.microsoft.com/office/2006/metadata/properties" ma:root="true" ma:fieldsID="fef140ca7880a354a0e51644bba34970" ns3:_="">
    <xsd:import namespace="5a900d02-bfa4-4031-90cf-f140c05c2832"/>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a900d02-bfa4-4031-90cf-f140c05c2832"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5a900d02-bfa4-4031-90cf-f140c05c2832"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3272039-F51C-42E8-863D-6678625F67D5}">
  <ds:schemaRefs>
    <ds:schemaRef ds:uri="5a900d02-bfa4-4031-90cf-f140c05c283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1139107-F122-466F-B455-2AC978DCBE07}">
  <ds:schemaRefs>
    <ds:schemaRef ds:uri="5a900d02-bfa4-4031-90cf-f140c05c283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CB20926E-88C5-4B22-B5AD-A47C3D55647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(4:3)</PresentationFormat>
  <Slides>9</Slides>
  <Notes>9</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Michigan PEVC Template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José Tomás Burguillos</dc:creator>
  <cp:revision>4</cp:revision>
  <dcterms:modified xsi:type="dcterms:W3CDTF">2026-04-08T05:05:35Z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0x010100FDD589CED3A06E479A109998C02F4E5E</vt:lpwstr>
  </property>
</Properties>
</file>